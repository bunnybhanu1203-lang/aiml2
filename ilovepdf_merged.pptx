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png" ContentType="image/png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59750"/>
          </a:xfrm>
          <a:custGeom>
            <a:avLst/>
            <a:gdLst/>
            <a:ahLst/>
            <a:cxnLst/>
            <a:rect l="l" t="t" r="r" b="b"/>
            <a:pathLst>
              <a:path w="6076950" h="8159750">
                <a:moveTo>
                  <a:pt x="6076950" y="0"/>
                </a:moveTo>
                <a:lnTo>
                  <a:pt x="0" y="0"/>
                </a:lnTo>
                <a:lnTo>
                  <a:pt x="0" y="8159750"/>
                </a:lnTo>
                <a:lnTo>
                  <a:pt x="6076950" y="815975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5918835" cy="80562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4466590">
              <a:lnSpc>
                <a:spcPts val="1280"/>
              </a:lnSpc>
              <a:spcBef>
                <a:spcPts val="17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graph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{}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edge_node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set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  <a:p>
            <a:pPr marL="349250" marR="4131310" indent="-336550">
              <a:lnSpc>
                <a:spcPts val="1280"/>
              </a:lnSpc>
              <a:spcBef>
                <a:spcPts val="116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add_node(node):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node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graph:</a:t>
            </a:r>
            <a:endParaRPr sz="1100">
              <a:latin typeface="Courier New"/>
              <a:cs typeface="Courier New"/>
            </a:endParaRPr>
          </a:p>
          <a:p>
            <a:pPr marL="685800" marR="7620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f"This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node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'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node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'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already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exists.</a:t>
            </a:r>
            <a:r>
              <a:rPr dirty="0" sz="1100" spc="-5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Enter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a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new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node:"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endParaRPr sz="1100">
              <a:latin typeface="Courier New"/>
              <a:cs typeface="Courier New"/>
            </a:endParaRPr>
          </a:p>
          <a:p>
            <a:pPr marL="349250" marR="4215130" indent="-635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graph[node]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[]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endParaRPr sz="1100">
              <a:latin typeface="Courier New"/>
              <a:cs typeface="Courier New"/>
            </a:endParaRPr>
          </a:p>
          <a:p>
            <a:pPr marL="348615" marR="4299585" indent="-336550">
              <a:lnSpc>
                <a:spcPts val="1280"/>
              </a:lnSpc>
              <a:spcBef>
                <a:spcPts val="116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7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add_edge(u,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v):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edge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(u,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v)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edge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edge_node:</a:t>
            </a:r>
            <a:endParaRPr sz="1100">
              <a:latin typeface="Courier New"/>
              <a:cs typeface="Courier New"/>
            </a:endParaRPr>
          </a:p>
          <a:p>
            <a:pPr marL="685800" marR="508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f"Edge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u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-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v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 spc="-65">
                <a:solidFill>
                  <a:srgbClr val="3CADE8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already</a:t>
            </a:r>
            <a:r>
              <a:rPr dirty="0" sz="1100" spc="-6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exists.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Enter</a:t>
            </a:r>
            <a:r>
              <a:rPr dirty="0" sz="1100" spc="-6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a</a:t>
            </a:r>
            <a:r>
              <a:rPr dirty="0" sz="1100" spc="-6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different</a:t>
            </a:r>
            <a:r>
              <a:rPr dirty="0" sz="1100" spc="-6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edge."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endParaRPr sz="1100">
              <a:latin typeface="Courier New"/>
              <a:cs typeface="Courier New"/>
            </a:endParaRPr>
          </a:p>
          <a:p>
            <a:pPr marL="685800" marR="1438275" indent="-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u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not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graph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or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v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not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graph:</a:t>
            </a:r>
            <a:r>
              <a:rPr dirty="0" sz="1100" spc="50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"Enter</a:t>
            </a:r>
            <a:r>
              <a:rPr dirty="0" sz="1100" spc="-9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nodes</a:t>
            </a:r>
            <a:r>
              <a:rPr dirty="0" sz="1100" spc="-9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before</a:t>
            </a:r>
            <a:r>
              <a:rPr dirty="0" sz="1100" spc="-9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connecting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edges."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endParaRPr sz="1100">
              <a:latin typeface="Courier New"/>
              <a:cs typeface="Courier New"/>
            </a:endParaRPr>
          </a:p>
          <a:p>
            <a:pPr marL="348615" marR="396367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graph[u].append(v) edge_node.add(edge)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endParaRPr sz="1100">
              <a:latin typeface="Courier New"/>
              <a:cs typeface="Courier New"/>
            </a:endParaRPr>
          </a:p>
          <a:p>
            <a:pPr marL="12700" marR="4551680">
              <a:lnSpc>
                <a:spcPts val="1280"/>
              </a:lnSpc>
              <a:spcBef>
                <a:spcPts val="116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visited_bfs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[]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queue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[]</a:t>
            </a:r>
            <a:endParaRPr sz="1100">
              <a:latin typeface="Courier New"/>
              <a:cs typeface="Courier New"/>
            </a:endParaRPr>
          </a:p>
          <a:p>
            <a:pPr marL="348615" marR="3458845" indent="-336550">
              <a:lnSpc>
                <a:spcPts val="1280"/>
              </a:lnSpc>
              <a:spcBef>
                <a:spcPts val="116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bfs(start): visited_bfs.clear() queue.clear() queue.append(start) visited_bfs.append(start)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while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queue:</a:t>
            </a:r>
            <a:endParaRPr sz="1100">
              <a:latin typeface="Courier New"/>
              <a:cs typeface="Courier New"/>
            </a:endParaRPr>
          </a:p>
          <a:p>
            <a:pPr marL="685800" marR="3541395" indent="-635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node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queue.pop(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(node,</a:t>
            </a:r>
            <a:r>
              <a:rPr dirty="0" sz="1100" spc="-8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end=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8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neighbor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graph[node]:</a:t>
            </a:r>
            <a:endParaRPr sz="1100">
              <a:latin typeface="Courier New"/>
              <a:cs typeface="Courier New"/>
            </a:endParaRPr>
          </a:p>
          <a:p>
            <a:pPr marL="1358265" marR="2197735" indent="-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neighbor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not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visited_bfs: visited_bfs.append(neighbor) queue.append(neighbor)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visited_dfs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[]</a:t>
            </a:r>
            <a:endParaRPr sz="1100">
              <a:latin typeface="Courier New"/>
              <a:cs typeface="Courier New"/>
            </a:endParaRPr>
          </a:p>
          <a:p>
            <a:pPr marL="348615" marR="3963670" indent="-336550">
              <a:lnSpc>
                <a:spcPts val="1280"/>
              </a:lnSpc>
              <a:spcBef>
                <a:spcPts val="120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dfs(start): visited_dfs.clear()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4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_dfs_helper(start)</a:t>
            </a:r>
            <a:endParaRPr sz="1100">
              <a:latin typeface="Courier New"/>
              <a:cs typeface="Courier New"/>
            </a:endParaRPr>
          </a:p>
          <a:p>
            <a:pPr marL="348615" marR="3543300" indent="-336550">
              <a:lnSpc>
                <a:spcPts val="1280"/>
              </a:lnSpc>
              <a:spcBef>
                <a:spcPts val="120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_dfs_helper(node): visited_dfs.append(node)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(node,</a:t>
            </a:r>
            <a:r>
              <a:rPr dirty="0" sz="1100" spc="-8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end=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8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neighbor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graph[node]: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neighbor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not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visited_dfs:</a:t>
            </a:r>
            <a:endParaRPr sz="1100">
              <a:latin typeface="Courier New"/>
              <a:cs typeface="Courier New"/>
            </a:endParaRPr>
          </a:p>
          <a:p>
            <a:pPr marL="1021715">
              <a:lnSpc>
                <a:spcPts val="130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_dfs_helper(neighbor)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8360" y="914400"/>
            <a:ext cx="6076315" cy="8159115"/>
          </a:xfrm>
          <a:custGeom>
            <a:avLst/>
            <a:gdLst/>
            <a:ahLst/>
            <a:cxnLst/>
            <a:rect l="l" t="t" r="r" b="b"/>
            <a:pathLst>
              <a:path w="6076315" h="8159115">
                <a:moveTo>
                  <a:pt x="0" y="1904"/>
                </a:moveTo>
                <a:lnTo>
                  <a:pt x="6076315" y="1904"/>
                </a:lnTo>
              </a:path>
              <a:path w="6076315" h="8159115">
                <a:moveTo>
                  <a:pt x="6075045" y="0"/>
                </a:moveTo>
                <a:lnTo>
                  <a:pt x="6075045" y="8159115"/>
                </a:lnTo>
              </a:path>
              <a:path w="6076315" h="8159115">
                <a:moveTo>
                  <a:pt x="6076315" y="8157845"/>
                </a:moveTo>
                <a:lnTo>
                  <a:pt x="0" y="8157845"/>
                </a:lnTo>
              </a:path>
              <a:path w="6076315" h="8159115">
                <a:moveTo>
                  <a:pt x="1905" y="8159115"/>
                </a:moveTo>
                <a:lnTo>
                  <a:pt x="1905" y="0"/>
                </a:lnTo>
              </a:path>
              <a:path w="6076315" h="8159115">
                <a:moveTo>
                  <a:pt x="0" y="1904"/>
                </a:moveTo>
                <a:lnTo>
                  <a:pt x="6076315" y="1904"/>
                </a:lnTo>
              </a:path>
              <a:path w="6076315" h="8159115">
                <a:moveTo>
                  <a:pt x="6075045" y="0"/>
                </a:moveTo>
                <a:lnTo>
                  <a:pt x="6075045" y="8159115"/>
                </a:lnTo>
              </a:path>
              <a:path w="6076315" h="8159115">
                <a:moveTo>
                  <a:pt x="6076315" y="8157845"/>
                </a:moveTo>
                <a:lnTo>
                  <a:pt x="0" y="8157845"/>
                </a:lnTo>
              </a:path>
              <a:path w="6076315" h="8159115">
                <a:moveTo>
                  <a:pt x="1905" y="815911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6250"/>
            <a:chOff x="847725" y="913764"/>
            <a:chExt cx="6076950" cy="809625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6250"/>
            </a:xfrm>
            <a:custGeom>
              <a:avLst/>
              <a:gdLst/>
              <a:ahLst/>
              <a:cxnLst/>
              <a:rect l="l" t="t" r="r" b="b"/>
              <a:pathLst>
                <a:path w="6076950" h="8096250">
                  <a:moveTo>
                    <a:pt x="6076950" y="0"/>
                  </a:moveTo>
                  <a:lnTo>
                    <a:pt x="0" y="0"/>
                  </a:lnTo>
                  <a:lnTo>
                    <a:pt x="0" y="4249420"/>
                  </a:lnTo>
                  <a:lnTo>
                    <a:pt x="0" y="6977380"/>
                  </a:lnTo>
                  <a:lnTo>
                    <a:pt x="0" y="7754620"/>
                  </a:lnTo>
                  <a:lnTo>
                    <a:pt x="0" y="8096250"/>
                  </a:lnTo>
                  <a:lnTo>
                    <a:pt x="6076950" y="8096250"/>
                  </a:lnTo>
                  <a:lnTo>
                    <a:pt x="6076950" y="7754620"/>
                  </a:lnTo>
                  <a:lnTo>
                    <a:pt x="6076950" y="6977380"/>
                  </a:lnTo>
                  <a:lnTo>
                    <a:pt x="6076950" y="4249420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5290819"/>
              <a:ext cx="2103755" cy="161925"/>
            </a:xfrm>
            <a:custGeom>
              <a:avLst/>
              <a:gdLst/>
              <a:ahLst/>
              <a:cxnLst/>
              <a:rect l="l" t="t" r="r" b="b"/>
              <a:pathLst>
                <a:path w="2103755" h="161925">
                  <a:moveTo>
                    <a:pt x="210375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2103755" y="161925"/>
                  </a:lnTo>
                  <a:lnTo>
                    <a:pt x="210375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02969" y="1106169"/>
            <a:ext cx="5328920" cy="435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dirty="0" sz="1100" i="1">
                <a:solidFill>
                  <a:srgbClr val="3F7F7F"/>
                </a:solidFill>
                <a:latin typeface="Courier New"/>
                <a:cs typeface="Courier New"/>
              </a:rPr>
              <a:t>#</a:t>
            </a:r>
            <a:r>
              <a:rPr dirty="0" sz="1100" spc="-30" i="1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dirty="0" sz="1100" i="1">
                <a:solidFill>
                  <a:srgbClr val="3F7F7F"/>
                </a:solidFill>
                <a:latin typeface="Courier New"/>
                <a:cs typeface="Courier New"/>
              </a:rPr>
              <a:t>Input</a:t>
            </a:r>
            <a:r>
              <a:rPr dirty="0" sz="1100" spc="-30" i="1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dirty="0" sz="1100" spc="-10" i="1">
                <a:solidFill>
                  <a:srgbClr val="3F7F7F"/>
                </a:solidFill>
                <a:latin typeface="Courier New"/>
                <a:cs typeface="Courier New"/>
              </a:rPr>
              <a:t>nodes</a:t>
            </a:r>
            <a:endParaRPr sz="1100">
              <a:latin typeface="Courier New"/>
              <a:cs typeface="Courier New"/>
            </a:endParaRPr>
          </a:p>
          <a:p>
            <a:pPr marL="12700" marR="185610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input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"Enter</a:t>
            </a:r>
            <a:r>
              <a:rPr dirty="0" sz="1100" spc="-5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number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dirty="0" sz="1100" spc="-5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nodes:</a:t>
            </a:r>
            <a:r>
              <a:rPr dirty="0" sz="1100" spc="-5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))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 </a:t>
            </a:r>
            <a:r>
              <a:rPr dirty="0" sz="1100" spc="-5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while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&lt;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n:</a:t>
            </a:r>
            <a:endParaRPr sz="1100">
              <a:latin typeface="Courier New"/>
              <a:cs typeface="Courier New"/>
            </a:endParaRPr>
          </a:p>
          <a:p>
            <a:pPr marL="349250" marR="1350010" indent="-63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node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input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f"Enter</a:t>
            </a:r>
            <a:r>
              <a:rPr dirty="0" sz="1100" spc="-5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node</a:t>
            </a:r>
            <a:r>
              <a:rPr dirty="0" sz="1100" spc="-5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i+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:</a:t>
            </a:r>
            <a:r>
              <a:rPr dirty="0" sz="1100" spc="-5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).strip()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add_node(node):</a:t>
            </a:r>
            <a:endParaRPr sz="1100">
              <a:latin typeface="Courier New"/>
              <a:cs typeface="Courier New"/>
            </a:endParaRPr>
          </a:p>
          <a:p>
            <a:pPr marL="685165">
              <a:lnSpc>
                <a:spcPts val="124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+=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1125"/>
              </a:spcBef>
            </a:pPr>
            <a:r>
              <a:rPr dirty="0" sz="1100" i="1">
                <a:solidFill>
                  <a:srgbClr val="3F7F7F"/>
                </a:solidFill>
                <a:latin typeface="Courier New"/>
                <a:cs typeface="Courier New"/>
              </a:rPr>
              <a:t>#</a:t>
            </a:r>
            <a:r>
              <a:rPr dirty="0" sz="1100" spc="-30" i="1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dirty="0" sz="1100" i="1">
                <a:solidFill>
                  <a:srgbClr val="3F7F7F"/>
                </a:solidFill>
                <a:latin typeface="Courier New"/>
                <a:cs typeface="Courier New"/>
              </a:rPr>
              <a:t>Input</a:t>
            </a:r>
            <a:r>
              <a:rPr dirty="0" sz="1100" spc="-30" i="1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dirty="0" sz="1100" spc="-10" i="1">
                <a:solidFill>
                  <a:srgbClr val="3F7F7F"/>
                </a:solidFill>
                <a:latin typeface="Courier New"/>
                <a:cs typeface="Courier New"/>
              </a:rPr>
              <a:t>edges</a:t>
            </a:r>
            <a:endParaRPr sz="1100">
              <a:latin typeface="Courier New"/>
              <a:cs typeface="Courier New"/>
            </a:endParaRPr>
          </a:p>
          <a:p>
            <a:pPr marL="12700" marR="185610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input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"Enter</a:t>
            </a:r>
            <a:r>
              <a:rPr dirty="0" sz="1100" spc="-5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number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dirty="0" sz="1100" spc="-5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edges:</a:t>
            </a:r>
            <a:r>
              <a:rPr dirty="0" sz="1100" spc="-5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range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(e):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while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12700" marR="5080" indent="67246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u,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v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input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f"Enter</a:t>
            </a:r>
            <a:r>
              <a:rPr dirty="0" sz="1100" spc="-4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edge</a:t>
            </a:r>
            <a:r>
              <a:rPr dirty="0" sz="1100" spc="-4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i+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 spc="-50">
                <a:solidFill>
                  <a:srgbClr val="3CADE8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(two</a:t>
            </a:r>
            <a:r>
              <a:rPr dirty="0" sz="1100" spc="-4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nodes</a:t>
            </a:r>
            <a:r>
              <a:rPr dirty="0" sz="1100" spc="-5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separated</a:t>
            </a:r>
            <a:r>
              <a:rPr dirty="0" sz="1100" spc="-5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FF5400"/>
                </a:solidFill>
                <a:latin typeface="Courier New"/>
                <a:cs typeface="Courier New"/>
              </a:rPr>
              <a:t>by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space):</a:t>
            </a:r>
            <a:r>
              <a:rPr dirty="0" sz="1100" spc="-8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).split()</a:t>
            </a:r>
            <a:endParaRPr sz="1100">
              <a:latin typeface="Courier New"/>
              <a:cs typeface="Courier New"/>
            </a:endParaRPr>
          </a:p>
          <a:p>
            <a:pPr marL="1022350" marR="3121025" indent="-336550">
              <a:lnSpc>
                <a:spcPts val="1280"/>
              </a:lnSpc>
              <a:spcBef>
                <a:spcPts val="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7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add_edge(u,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v): 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break</a:t>
            </a:r>
            <a:endParaRPr sz="1100">
              <a:latin typeface="Courier New"/>
              <a:cs typeface="Courier New"/>
            </a:endParaRPr>
          </a:p>
          <a:p>
            <a:pPr marL="12700" marR="1436370">
              <a:lnSpc>
                <a:spcPts val="1280"/>
              </a:lnSpc>
              <a:spcBef>
                <a:spcPts val="1160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start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input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"Enter</a:t>
            </a:r>
            <a:r>
              <a:rPr dirty="0" sz="11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starting</a:t>
            </a:r>
            <a:r>
              <a:rPr dirty="0" sz="11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node:</a:t>
            </a:r>
            <a:r>
              <a:rPr dirty="0" sz="11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).strip()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start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graph:</a:t>
            </a:r>
            <a:endParaRPr sz="1100">
              <a:latin typeface="Courier New"/>
              <a:cs typeface="Courier New"/>
            </a:endParaRPr>
          </a:p>
          <a:p>
            <a:pPr marL="348615" marR="3624579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"BFS:</a:t>
            </a:r>
            <a:r>
              <a:rPr dirty="0" sz="1100" spc="-114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bfs(start)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DFS:</a:t>
            </a:r>
            <a:r>
              <a:rPr dirty="0" sz="1100" spc="-1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dfs(start)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30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"Start</a:t>
            </a:r>
            <a:r>
              <a:rPr dirty="0" sz="1100" spc="-7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node</a:t>
            </a:r>
            <a:r>
              <a:rPr dirty="0" sz="11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not</a:t>
            </a:r>
            <a:r>
              <a:rPr dirty="0" sz="11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found."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203073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number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of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nodes: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5453379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1: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5615837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2: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5778396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3: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5940957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4: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6103516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5: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6266077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6: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6428637"/>
            <a:ext cx="1358265" cy="16319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7: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6591300"/>
            <a:ext cx="211645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201930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number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of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edges: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6753859"/>
            <a:ext cx="4123054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386969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edge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(two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nodes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separated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by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space):</a:t>
            </a:r>
            <a:r>
              <a:rPr dirty="0" sz="1100">
                <a:latin typeface="Courier New"/>
                <a:cs typeface="Courier New"/>
              </a:rPr>
              <a:t>	5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6916317"/>
            <a:ext cx="4123054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386969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edge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(two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nodes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separated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by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space):</a:t>
            </a:r>
            <a:r>
              <a:rPr dirty="0" sz="1100">
                <a:latin typeface="Courier New"/>
                <a:cs typeface="Courier New"/>
              </a:rPr>
              <a:t>	5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7078877"/>
            <a:ext cx="4123054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386969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edge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3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(two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nodes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separated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by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space):</a:t>
            </a:r>
            <a:r>
              <a:rPr dirty="0" sz="1100">
                <a:latin typeface="Courier New"/>
                <a:cs typeface="Courier New"/>
              </a:rPr>
              <a:t>	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7241437"/>
            <a:ext cx="4123054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386969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edge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4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(two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nodes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separated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by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space):</a:t>
            </a:r>
            <a:r>
              <a:rPr dirty="0" sz="1100">
                <a:latin typeface="Courier New"/>
                <a:cs typeface="Courier New"/>
              </a:rPr>
              <a:t>	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7403996"/>
            <a:ext cx="4123054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386969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edge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(two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nodes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separated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by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space):</a:t>
            </a:r>
            <a:r>
              <a:rPr dirty="0" sz="1100">
                <a:latin typeface="Courier New"/>
                <a:cs typeface="Courier New"/>
              </a:rPr>
              <a:t>	3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7566556"/>
            <a:ext cx="4123054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  <a:tabLst>
                <a:tab pos="3869690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edge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6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(two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nodes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separated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by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space):</a:t>
            </a:r>
            <a:r>
              <a:rPr dirty="0" sz="1100">
                <a:latin typeface="Courier New"/>
                <a:cs typeface="Courier New"/>
              </a:rPr>
              <a:t>	8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4400" y="7729219"/>
            <a:ext cx="1934845" cy="451484"/>
          </a:xfrm>
          <a:custGeom>
            <a:avLst/>
            <a:gdLst/>
            <a:ahLst/>
            <a:cxnLst/>
            <a:rect l="l" t="t" r="r" b="b"/>
            <a:pathLst>
              <a:path w="1934845" h="451484">
                <a:moveTo>
                  <a:pt x="335915" y="289560"/>
                </a:moveTo>
                <a:lnTo>
                  <a:pt x="0" y="289560"/>
                </a:lnTo>
                <a:lnTo>
                  <a:pt x="0" y="451485"/>
                </a:lnTo>
                <a:lnTo>
                  <a:pt x="335915" y="451485"/>
                </a:lnTo>
                <a:lnTo>
                  <a:pt x="335915" y="289560"/>
                </a:lnTo>
                <a:close/>
              </a:path>
              <a:path w="1934845" h="451484">
                <a:moveTo>
                  <a:pt x="1934845" y="0"/>
                </a:moveTo>
                <a:lnTo>
                  <a:pt x="0" y="0"/>
                </a:lnTo>
                <a:lnTo>
                  <a:pt x="0" y="161925"/>
                </a:lnTo>
                <a:lnTo>
                  <a:pt x="1934845" y="161925"/>
                </a:lnTo>
                <a:lnTo>
                  <a:pt x="19348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02969" y="7706359"/>
            <a:ext cx="196024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2455" algn="l"/>
              </a:tabLst>
            </a:pPr>
            <a:r>
              <a:rPr dirty="0" sz="1100">
                <a:latin typeface="Courier New"/>
                <a:cs typeface="Courier New"/>
              </a:rPr>
              <a:t>Enter</a:t>
            </a:r>
            <a:r>
              <a:rPr dirty="0" sz="1100" spc="-7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starting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node: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100" spc="-20">
                <a:latin typeface="Courier New"/>
                <a:cs typeface="Courier New"/>
              </a:rPr>
              <a:t>BFS: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8181340"/>
            <a:ext cx="110553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5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3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4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8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6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8343900"/>
            <a:ext cx="34861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 spc="-20">
                <a:latin typeface="Courier New"/>
                <a:cs typeface="Courier New"/>
              </a:rPr>
              <a:t>DFS: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14400" y="8506459"/>
            <a:ext cx="1092835" cy="161925"/>
          </a:xfrm>
          <a:custGeom>
            <a:avLst/>
            <a:gdLst/>
            <a:ahLst/>
            <a:cxnLst/>
            <a:rect l="l" t="t" r="r" b="b"/>
            <a:pathLst>
              <a:path w="1092835" h="161925">
                <a:moveTo>
                  <a:pt x="1092835" y="0"/>
                </a:moveTo>
                <a:lnTo>
                  <a:pt x="0" y="0"/>
                </a:lnTo>
                <a:lnTo>
                  <a:pt x="0" y="161925"/>
                </a:lnTo>
                <a:lnTo>
                  <a:pt x="1092835" y="161925"/>
                </a:lnTo>
                <a:lnTo>
                  <a:pt x="109283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02969" y="8483600"/>
            <a:ext cx="11188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ourier New"/>
                <a:cs typeface="Courier New"/>
              </a:rPr>
              <a:t>5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4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8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7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3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48360" y="914400"/>
            <a:ext cx="6076315" cy="8095615"/>
          </a:xfrm>
          <a:custGeom>
            <a:avLst/>
            <a:gdLst/>
            <a:ahLst/>
            <a:cxnLst/>
            <a:rect l="l" t="t" r="r" b="b"/>
            <a:pathLst>
              <a:path w="6076315" h="8095615">
                <a:moveTo>
                  <a:pt x="0" y="1904"/>
                </a:moveTo>
                <a:lnTo>
                  <a:pt x="6076315" y="1904"/>
                </a:lnTo>
              </a:path>
              <a:path w="6076315" h="8095615">
                <a:moveTo>
                  <a:pt x="6075045" y="0"/>
                </a:moveTo>
                <a:lnTo>
                  <a:pt x="6075045" y="4376420"/>
                </a:lnTo>
              </a:path>
              <a:path w="6076315" h="8095615">
                <a:moveTo>
                  <a:pt x="1905" y="4376420"/>
                </a:moveTo>
                <a:lnTo>
                  <a:pt x="1905" y="0"/>
                </a:lnTo>
              </a:path>
              <a:path w="6076315" h="8095615">
                <a:moveTo>
                  <a:pt x="6075045" y="4249420"/>
                </a:moveTo>
                <a:lnTo>
                  <a:pt x="6075045" y="7104380"/>
                </a:lnTo>
              </a:path>
              <a:path w="6076315" h="8095615">
                <a:moveTo>
                  <a:pt x="1905" y="7104380"/>
                </a:moveTo>
                <a:lnTo>
                  <a:pt x="1905" y="4249420"/>
                </a:lnTo>
              </a:path>
              <a:path w="6076315" h="8095615">
                <a:moveTo>
                  <a:pt x="6075045" y="6977380"/>
                </a:moveTo>
                <a:lnTo>
                  <a:pt x="6075045" y="7881620"/>
                </a:lnTo>
              </a:path>
              <a:path w="6076315" h="8095615">
                <a:moveTo>
                  <a:pt x="1905" y="7881620"/>
                </a:moveTo>
                <a:lnTo>
                  <a:pt x="1905" y="6977380"/>
                </a:lnTo>
              </a:path>
              <a:path w="6076315" h="8095615">
                <a:moveTo>
                  <a:pt x="6075045" y="7754620"/>
                </a:moveTo>
                <a:lnTo>
                  <a:pt x="6075045" y="8095615"/>
                </a:lnTo>
              </a:path>
              <a:path w="6076315" h="8095615">
                <a:moveTo>
                  <a:pt x="6076315" y="8094345"/>
                </a:moveTo>
                <a:lnTo>
                  <a:pt x="0" y="8094345"/>
                </a:lnTo>
              </a:path>
              <a:path w="6076315" h="8095615">
                <a:moveTo>
                  <a:pt x="1905" y="8095615"/>
                </a:moveTo>
                <a:lnTo>
                  <a:pt x="1905" y="7754620"/>
                </a:lnTo>
              </a:path>
              <a:path w="6076315" h="8095615">
                <a:moveTo>
                  <a:pt x="0" y="1904"/>
                </a:moveTo>
                <a:lnTo>
                  <a:pt x="6076315" y="1904"/>
                </a:lnTo>
              </a:path>
              <a:path w="6076315" h="8095615">
                <a:moveTo>
                  <a:pt x="6075045" y="0"/>
                </a:moveTo>
                <a:lnTo>
                  <a:pt x="6075045" y="4376420"/>
                </a:lnTo>
              </a:path>
              <a:path w="6076315" h="8095615">
                <a:moveTo>
                  <a:pt x="1905" y="4376420"/>
                </a:moveTo>
                <a:lnTo>
                  <a:pt x="1905" y="0"/>
                </a:lnTo>
              </a:path>
              <a:path w="6076315" h="8095615">
                <a:moveTo>
                  <a:pt x="6075045" y="4249420"/>
                </a:moveTo>
                <a:lnTo>
                  <a:pt x="6075045" y="7104380"/>
                </a:lnTo>
              </a:path>
              <a:path w="6076315" h="8095615">
                <a:moveTo>
                  <a:pt x="1905" y="7104380"/>
                </a:moveTo>
                <a:lnTo>
                  <a:pt x="1905" y="4249420"/>
                </a:lnTo>
              </a:path>
              <a:path w="6076315" h="8095615">
                <a:moveTo>
                  <a:pt x="6075045" y="6977380"/>
                </a:moveTo>
                <a:lnTo>
                  <a:pt x="6075045" y="7881620"/>
                </a:lnTo>
              </a:path>
              <a:path w="6076315" h="8095615">
                <a:moveTo>
                  <a:pt x="1905" y="7881620"/>
                </a:moveTo>
                <a:lnTo>
                  <a:pt x="1905" y="6977380"/>
                </a:lnTo>
              </a:path>
              <a:path w="6076315" h="8095615">
                <a:moveTo>
                  <a:pt x="6075045" y="7754620"/>
                </a:moveTo>
                <a:lnTo>
                  <a:pt x="6075045" y="8095615"/>
                </a:lnTo>
              </a:path>
              <a:path w="6076315" h="8095615">
                <a:moveTo>
                  <a:pt x="6076315" y="8094345"/>
                </a:moveTo>
                <a:lnTo>
                  <a:pt x="0" y="8094345"/>
                </a:lnTo>
              </a:path>
              <a:path w="6076315" h="8095615">
                <a:moveTo>
                  <a:pt x="1905" y="8095615"/>
                </a:moveTo>
                <a:lnTo>
                  <a:pt x="1905" y="775462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98790"/>
          </a:xfrm>
          <a:custGeom>
            <a:avLst/>
            <a:gdLst/>
            <a:ahLst/>
            <a:cxnLst/>
            <a:rect l="l" t="t" r="r" b="b"/>
            <a:pathLst>
              <a:path w="6076950" h="8098790">
                <a:moveTo>
                  <a:pt x="6076950" y="0"/>
                </a:moveTo>
                <a:lnTo>
                  <a:pt x="0" y="0"/>
                </a:lnTo>
                <a:lnTo>
                  <a:pt x="0" y="8098789"/>
                </a:lnTo>
                <a:lnTo>
                  <a:pt x="6076950" y="8098789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5916930" cy="79959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348615" marR="2783840" indent="-336550">
              <a:lnSpc>
                <a:spcPts val="1280"/>
              </a:lnSpc>
              <a:spcBef>
                <a:spcPts val="17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aStarAlgo(start_node,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stop_node):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open_set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set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([start_node])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closed_set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set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2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{}</a:t>
            </a:r>
            <a:endParaRPr sz="1100">
              <a:latin typeface="Courier New"/>
              <a:cs typeface="Courier New"/>
            </a:endParaRPr>
          </a:p>
          <a:p>
            <a:pPr marL="348615" marR="412813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parents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{}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g[start_node]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L="349250" marR="2867025" indent="-63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parents[start_node]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start_node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while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(open_set)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&gt;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685165">
              <a:lnSpc>
                <a:spcPts val="122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v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open_set:</a:t>
            </a:r>
            <a:endParaRPr sz="1100">
              <a:latin typeface="Courier New"/>
              <a:cs typeface="Courier New"/>
            </a:endParaRPr>
          </a:p>
          <a:p>
            <a:pPr marL="1358265" marR="5080" indent="-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is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g[v]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heuristic(v)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&lt;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g[n]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heuristic(n):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v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is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1022350" marR="244538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'Path</a:t>
            </a:r>
            <a:r>
              <a:rPr dirty="0" sz="11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does</a:t>
            </a:r>
            <a:r>
              <a:rPr dirty="0" sz="1100" spc="-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not</a:t>
            </a:r>
            <a:r>
              <a:rPr dirty="0" sz="1100" spc="-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exist!'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endParaRPr sz="1100">
              <a:latin typeface="Courier New"/>
              <a:cs typeface="Courier New"/>
            </a:endParaRPr>
          </a:p>
          <a:p>
            <a:pPr marL="1021715" marR="3708400" indent="-336550">
              <a:lnSpc>
                <a:spcPts val="1280"/>
              </a:lnSpc>
              <a:spcBef>
                <a:spcPts val="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==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stop_node: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path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[]</a:t>
            </a:r>
            <a:endParaRPr sz="1100">
              <a:latin typeface="Courier New"/>
              <a:cs typeface="Courier New"/>
            </a:endParaRPr>
          </a:p>
          <a:p>
            <a:pPr marL="1358265" marR="3034665" indent="-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while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parents[n]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!=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n: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path.append(n)</a:t>
            </a:r>
            <a:endParaRPr sz="1100">
              <a:latin typeface="Courier New"/>
              <a:cs typeface="Courier New"/>
            </a:endParaRPr>
          </a:p>
          <a:p>
            <a:pPr marL="1021715" marR="2952115" indent="335915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parents[n] path.append(start_node) path.reverse()</a:t>
            </a:r>
            <a:endParaRPr sz="1100">
              <a:latin typeface="Courier New"/>
              <a:cs typeface="Courier New"/>
            </a:endParaRPr>
          </a:p>
          <a:p>
            <a:pPr marL="1022350" marR="1856105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'Path</a:t>
            </a:r>
            <a:r>
              <a:rPr dirty="0" sz="1100" spc="-9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found: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{}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format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(path))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path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(m,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weight)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get_neighbors(n)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[]:</a:t>
            </a:r>
            <a:endParaRPr sz="1100">
              <a:latin typeface="Courier New"/>
              <a:cs typeface="Courier New"/>
            </a:endParaRPr>
          </a:p>
          <a:p>
            <a:pPr marL="1358265" marR="1097915" indent="-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m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not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open_set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and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m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not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closed_set: open_set.add(m)</a:t>
            </a:r>
            <a:endParaRPr sz="1100">
              <a:latin typeface="Courier New"/>
              <a:cs typeface="Courier New"/>
            </a:endParaRPr>
          </a:p>
          <a:p>
            <a:pPr marL="1358265">
              <a:lnSpc>
                <a:spcPts val="122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parents[m]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endParaRPr sz="1100">
              <a:latin typeface="Courier New"/>
              <a:cs typeface="Courier New"/>
            </a:endParaRPr>
          </a:p>
          <a:p>
            <a:pPr marL="1022350" marR="2866390" indent="33591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g[m]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g[n]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weight 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algn="just" marL="1694180" marR="2529840" indent="-335915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g[m]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&gt;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g[n]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weight: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g[m]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g[n]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weight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parents[m]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endParaRPr sz="1100">
              <a:latin typeface="Courier New"/>
              <a:cs typeface="Courier New"/>
            </a:endParaRPr>
          </a:p>
          <a:p>
            <a:pPr marL="2030730" marR="2195195" indent="-335915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m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closed_set: closed_set.remove(m) open_set.add(m)</a:t>
            </a:r>
            <a:endParaRPr sz="1100">
              <a:latin typeface="Courier New"/>
              <a:cs typeface="Courier New"/>
            </a:endParaRPr>
          </a:p>
          <a:p>
            <a:pPr marL="685165" marR="370903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open_set.remove(n) closed_set.add(n)</a:t>
            </a:r>
            <a:endParaRPr sz="1100">
              <a:latin typeface="Courier New"/>
              <a:cs typeface="Courier New"/>
            </a:endParaRPr>
          </a:p>
          <a:p>
            <a:pPr marL="349250" marR="3118485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'Path</a:t>
            </a:r>
            <a:r>
              <a:rPr dirty="0" sz="1100" spc="-6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does</a:t>
            </a:r>
            <a:r>
              <a:rPr dirty="0" sz="1100" spc="-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not</a:t>
            </a:r>
            <a:r>
              <a:rPr dirty="0" sz="1100" spc="-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exist!'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get_neighbors(v):</a:t>
            </a:r>
            <a:endParaRPr sz="1100">
              <a:latin typeface="Courier New"/>
              <a:cs typeface="Courier New"/>
            </a:endParaRPr>
          </a:p>
          <a:p>
            <a:pPr marL="685800" marR="3456304" indent="-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v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Graph_nodes: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Graph_nodes[v]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25"/>
              </a:lnSpc>
            </a:pP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12700" marR="4297045" indent="67310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None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heuristic(n):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2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H_dist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11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30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'B'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6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264" y="916305"/>
            <a:ext cx="6073140" cy="356997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737870">
              <a:lnSpc>
                <a:spcPts val="1300"/>
              </a:lnSpc>
              <a:spcBef>
                <a:spcPts val="430"/>
              </a:spcBef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'C'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99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73787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73787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'E'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7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73787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'G'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64769" marR="2801620" indent="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10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H_dist.get(n,</a:t>
            </a:r>
            <a:r>
              <a:rPr dirty="0" sz="1100" spc="-10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float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'inf'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))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Graph_nodes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25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[(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'B'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),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'E'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)],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'B'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[(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'C'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),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'G'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9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)],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'C'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'E'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[(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6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)],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[(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'G'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)],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'G'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</a:pP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112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aStarAlgo(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'G'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3694429"/>
            <a:ext cx="270446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Path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found: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['A',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'E',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'D',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'G']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3983990"/>
            <a:ext cx="1694814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['A',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'E',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'D',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'G']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154670"/>
            <a:chOff x="847725" y="913764"/>
            <a:chExt cx="6076950" cy="815467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154670"/>
            </a:xfrm>
            <a:custGeom>
              <a:avLst/>
              <a:gdLst/>
              <a:ahLst/>
              <a:cxnLst/>
              <a:rect l="l" t="t" r="r" b="b"/>
              <a:pathLst>
                <a:path w="6076950" h="8154670">
                  <a:moveTo>
                    <a:pt x="6076950" y="0"/>
                  </a:moveTo>
                  <a:lnTo>
                    <a:pt x="0" y="0"/>
                  </a:lnTo>
                  <a:lnTo>
                    <a:pt x="0" y="3642995"/>
                  </a:lnTo>
                  <a:lnTo>
                    <a:pt x="0" y="3643630"/>
                  </a:lnTo>
                  <a:lnTo>
                    <a:pt x="0" y="8154670"/>
                  </a:lnTo>
                  <a:lnTo>
                    <a:pt x="6076950" y="8154670"/>
                  </a:lnTo>
                  <a:lnTo>
                    <a:pt x="6076950" y="364299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4685030"/>
              <a:ext cx="168275" cy="161925"/>
            </a:xfrm>
            <a:custGeom>
              <a:avLst/>
              <a:gdLst/>
              <a:ahLst/>
              <a:cxnLst/>
              <a:rect l="l" t="t" r="r" b="b"/>
              <a:pathLst>
                <a:path w="168275" h="161925">
                  <a:moveTo>
                    <a:pt x="16827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168275" y="161925"/>
                  </a:lnTo>
                  <a:lnTo>
                    <a:pt x="16827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4905375" cy="7762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sys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maxsize</a:t>
            </a:r>
            <a:endParaRPr sz="1100">
              <a:latin typeface="Courier New"/>
              <a:cs typeface="Courier New"/>
            </a:endParaRPr>
          </a:p>
          <a:p>
            <a:pPr marL="12700" marR="202374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7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itertools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7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permutations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v=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  <a:p>
            <a:pPr marL="348615" marR="1604010" indent="-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travellingSalesmanProblem(graph,s): vertex=[]</a:t>
            </a:r>
            <a:endParaRPr sz="1100">
              <a:latin typeface="Courier New"/>
              <a:cs typeface="Courier New"/>
            </a:endParaRPr>
          </a:p>
          <a:p>
            <a:pPr marL="685800" marR="3032125" indent="-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range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(v):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i!=s:</a:t>
            </a:r>
            <a:endParaRPr sz="1100">
              <a:latin typeface="Courier New"/>
              <a:cs typeface="Courier New"/>
            </a:endParaRPr>
          </a:p>
          <a:p>
            <a:pPr marL="348615" marR="1435100" indent="67246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vertex.append(i) min_path=maxsize next_permutation=permutations(vertex)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next_permutation:</a:t>
            </a:r>
            <a:endParaRPr sz="1100">
              <a:latin typeface="Courier New"/>
              <a:cs typeface="Courier New"/>
            </a:endParaRPr>
          </a:p>
          <a:p>
            <a:pPr marL="685165" marR="252793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current_pathweight=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k=s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j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i:</a:t>
            </a:r>
            <a:endParaRPr sz="1100">
              <a:latin typeface="Courier New"/>
              <a:cs typeface="Courier New"/>
            </a:endParaRPr>
          </a:p>
          <a:p>
            <a:pPr marL="1021715" marR="1266825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current_pathweight+=graph[k][j]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k=j</a:t>
            </a:r>
            <a:endParaRPr sz="1100">
              <a:latin typeface="Courier New"/>
              <a:cs typeface="Courier New"/>
            </a:endParaRPr>
          </a:p>
          <a:p>
            <a:pPr marL="685165" marR="76200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current_pathweight+=graph[k][s] min_path=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min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(min_path,current_pathweight)</a:t>
            </a:r>
            <a:endParaRPr sz="1100">
              <a:latin typeface="Courier New"/>
              <a:cs typeface="Courier New"/>
            </a:endParaRPr>
          </a:p>
          <a:p>
            <a:pPr marL="12700" marR="919480" indent="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min_path graph=[[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6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8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9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4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6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9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8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4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]]</a:t>
            </a:r>
            <a:endParaRPr sz="1100">
              <a:latin typeface="Courier New"/>
              <a:cs typeface="Courier New"/>
            </a:endParaRPr>
          </a:p>
          <a:p>
            <a:pPr marL="12700" marR="1435735">
              <a:lnSpc>
                <a:spcPts val="1280"/>
              </a:lnSpc>
            </a:pP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s=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0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(travellingSalesmanProblem(graph,s))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 spc="-25">
                <a:latin typeface="Courier New"/>
                <a:cs typeface="Courier New"/>
              </a:rPr>
              <a:t>15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96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colors=[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'Red'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'Blue'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'Green'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 marR="2440940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states=[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'b'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'c'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 neighbours={} neighbours[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]=[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'b'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'c'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neighbours[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'b'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]=[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neighbours[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'c'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]=[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 marR="2440940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neighbours[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]=[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'c'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'b'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 colors_of_states={}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promising(state,color):</a:t>
            </a:r>
            <a:endParaRPr sz="1100">
              <a:latin typeface="Courier New"/>
              <a:cs typeface="Courier New"/>
            </a:endParaRPr>
          </a:p>
          <a:p>
            <a:pPr marL="685165" marR="5080" indent="-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neighbour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neighbours.get(state): color_of_neighbour=colors_of_states.get(neighbour)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color_of_neighbour==color:</a:t>
            </a:r>
            <a:endParaRPr sz="1100">
              <a:latin typeface="Courier New"/>
              <a:cs typeface="Courier New"/>
            </a:endParaRPr>
          </a:p>
          <a:p>
            <a:pPr marL="349250" marR="2865120" indent="67310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False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endParaRPr sz="1100">
              <a:latin typeface="Courier New"/>
              <a:cs typeface="Courier New"/>
            </a:endParaRPr>
          </a:p>
          <a:p>
            <a:pPr marL="349250" marR="2277110" indent="-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get_color_for_state(state):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color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colors:</a:t>
            </a:r>
            <a:endParaRPr sz="1100">
              <a:latin typeface="Courier New"/>
              <a:cs typeface="Courier New"/>
            </a:endParaRPr>
          </a:p>
          <a:p>
            <a:pPr marL="1022350" marR="2024380" indent="-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promising(state,color):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color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main():</a:t>
            </a:r>
            <a:endParaRPr sz="1100">
              <a:latin typeface="Courier New"/>
              <a:cs typeface="Courier New"/>
            </a:endParaRPr>
          </a:p>
          <a:p>
            <a:pPr marL="685165" marR="5080" indent="-336550">
              <a:lnSpc>
                <a:spcPts val="1280"/>
              </a:lnSpc>
              <a:spcBef>
                <a:spcPts val="6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state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states: colors_of_states[state]=get_color_for_state(state)</a:t>
            </a:r>
            <a:endParaRPr sz="1100">
              <a:latin typeface="Courier New"/>
              <a:cs typeface="Courier New"/>
            </a:endParaRPr>
          </a:p>
          <a:p>
            <a:pPr marL="12700" marR="2613025" indent="336550">
              <a:lnSpc>
                <a:spcPts val="1280"/>
              </a:lnSpc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(colors_of_states) main()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8840469"/>
            <a:ext cx="437451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{'a':</a:t>
            </a:r>
            <a:r>
              <a:rPr dirty="0" sz="1100" spc="-6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'Red',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'b':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'Blue',</a:t>
            </a:r>
            <a:r>
              <a:rPr dirty="0" sz="1100" spc="-6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'c':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'Blue',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'd':</a:t>
            </a:r>
            <a:r>
              <a:rPr dirty="0" sz="1100" spc="-6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'Green'}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8360" y="914400"/>
            <a:ext cx="6076315" cy="8154034"/>
          </a:xfrm>
          <a:custGeom>
            <a:avLst/>
            <a:gdLst/>
            <a:ahLst/>
            <a:cxnLst/>
            <a:rect l="l" t="t" r="r" b="b"/>
            <a:pathLst>
              <a:path w="6076315" h="8154034">
                <a:moveTo>
                  <a:pt x="0" y="1904"/>
                </a:moveTo>
                <a:lnTo>
                  <a:pt x="6076315" y="1904"/>
                </a:lnTo>
              </a:path>
              <a:path w="6076315" h="8154034">
                <a:moveTo>
                  <a:pt x="6075045" y="0"/>
                </a:moveTo>
                <a:lnTo>
                  <a:pt x="6075045" y="3769995"/>
                </a:lnTo>
              </a:path>
              <a:path w="6076315" h="8154034">
                <a:moveTo>
                  <a:pt x="1905" y="3769995"/>
                </a:moveTo>
                <a:lnTo>
                  <a:pt x="1905" y="0"/>
                </a:lnTo>
              </a:path>
              <a:path w="6076315" h="8154034">
                <a:moveTo>
                  <a:pt x="6075045" y="3642995"/>
                </a:moveTo>
                <a:lnTo>
                  <a:pt x="6075045" y="4059554"/>
                </a:lnTo>
              </a:path>
              <a:path w="6076315" h="8154034">
                <a:moveTo>
                  <a:pt x="1905" y="4059554"/>
                </a:moveTo>
                <a:lnTo>
                  <a:pt x="1905" y="3642995"/>
                </a:lnTo>
              </a:path>
              <a:path w="6076315" h="8154034">
                <a:moveTo>
                  <a:pt x="6075045" y="3932554"/>
                </a:moveTo>
                <a:lnTo>
                  <a:pt x="6075045" y="7925434"/>
                </a:lnTo>
              </a:path>
              <a:path w="6076315" h="8154034">
                <a:moveTo>
                  <a:pt x="1905" y="7925434"/>
                </a:moveTo>
                <a:lnTo>
                  <a:pt x="1905" y="3932554"/>
                </a:lnTo>
              </a:path>
              <a:path w="6076315" h="8154034">
                <a:moveTo>
                  <a:pt x="6075045" y="7798434"/>
                </a:moveTo>
                <a:lnTo>
                  <a:pt x="6075045" y="8154034"/>
                </a:lnTo>
              </a:path>
              <a:path w="6076315" h="8154034">
                <a:moveTo>
                  <a:pt x="6076315" y="8152765"/>
                </a:moveTo>
                <a:lnTo>
                  <a:pt x="0" y="8152765"/>
                </a:lnTo>
              </a:path>
              <a:path w="6076315" h="8154034">
                <a:moveTo>
                  <a:pt x="1905" y="8154034"/>
                </a:moveTo>
                <a:lnTo>
                  <a:pt x="1905" y="7798434"/>
                </a:lnTo>
              </a:path>
              <a:path w="6076315" h="8154034">
                <a:moveTo>
                  <a:pt x="0" y="1904"/>
                </a:moveTo>
                <a:lnTo>
                  <a:pt x="6076315" y="1904"/>
                </a:lnTo>
              </a:path>
              <a:path w="6076315" h="8154034">
                <a:moveTo>
                  <a:pt x="6075045" y="0"/>
                </a:moveTo>
                <a:lnTo>
                  <a:pt x="6075045" y="3769995"/>
                </a:lnTo>
              </a:path>
              <a:path w="6076315" h="8154034">
                <a:moveTo>
                  <a:pt x="1905" y="3769995"/>
                </a:moveTo>
                <a:lnTo>
                  <a:pt x="1905" y="0"/>
                </a:lnTo>
              </a:path>
              <a:path w="6076315" h="8154034">
                <a:moveTo>
                  <a:pt x="6075045" y="3642995"/>
                </a:moveTo>
                <a:lnTo>
                  <a:pt x="6075045" y="4059554"/>
                </a:lnTo>
              </a:path>
              <a:path w="6076315" h="8154034">
                <a:moveTo>
                  <a:pt x="1905" y="4059554"/>
                </a:moveTo>
                <a:lnTo>
                  <a:pt x="1905" y="3642995"/>
                </a:lnTo>
              </a:path>
              <a:path w="6076315" h="8154034">
                <a:moveTo>
                  <a:pt x="6075045" y="3932554"/>
                </a:moveTo>
                <a:lnTo>
                  <a:pt x="6075045" y="7925434"/>
                </a:lnTo>
              </a:path>
              <a:path w="6076315" h="8154034">
                <a:moveTo>
                  <a:pt x="1905" y="7925434"/>
                </a:moveTo>
                <a:lnTo>
                  <a:pt x="1905" y="3932554"/>
                </a:lnTo>
              </a:path>
              <a:path w="6076315" h="8154034">
                <a:moveTo>
                  <a:pt x="6075045" y="7798434"/>
                </a:moveTo>
                <a:lnTo>
                  <a:pt x="6075045" y="8154034"/>
                </a:lnTo>
              </a:path>
              <a:path w="6076315" h="8154034">
                <a:moveTo>
                  <a:pt x="6076315" y="8152765"/>
                </a:moveTo>
                <a:lnTo>
                  <a:pt x="0" y="8152765"/>
                </a:lnTo>
              </a:path>
              <a:path w="6076315" h="8154034">
                <a:moveTo>
                  <a:pt x="1905" y="8154034"/>
                </a:moveTo>
                <a:lnTo>
                  <a:pt x="1905" y="7798434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7585" cy="282575"/>
            <a:chOff x="847725" y="913764"/>
            <a:chExt cx="6077585" cy="282575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281940"/>
            </a:xfrm>
            <a:custGeom>
              <a:avLst/>
              <a:gdLst/>
              <a:ahLst/>
              <a:cxnLst/>
              <a:rect l="l" t="t" r="r" b="b"/>
              <a:pathLst>
                <a:path w="6076950" h="281940">
                  <a:moveTo>
                    <a:pt x="6076950" y="0"/>
                  </a:moveTo>
                  <a:lnTo>
                    <a:pt x="0" y="0"/>
                  </a:lnTo>
                  <a:lnTo>
                    <a:pt x="0" y="281939"/>
                  </a:lnTo>
                  <a:lnTo>
                    <a:pt x="6076950" y="28193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48360" y="914399"/>
              <a:ext cx="6076315" cy="281305"/>
            </a:xfrm>
            <a:custGeom>
              <a:avLst/>
              <a:gdLst/>
              <a:ahLst/>
              <a:cxnLst/>
              <a:rect l="l" t="t" r="r" b="b"/>
              <a:pathLst>
                <a:path w="6076315" h="281305">
                  <a:moveTo>
                    <a:pt x="0" y="1904"/>
                  </a:moveTo>
                  <a:lnTo>
                    <a:pt x="6076315" y="1904"/>
                  </a:lnTo>
                </a:path>
                <a:path w="6076315" h="281305">
                  <a:moveTo>
                    <a:pt x="6075045" y="0"/>
                  </a:moveTo>
                  <a:lnTo>
                    <a:pt x="6075045" y="281304"/>
                  </a:lnTo>
                </a:path>
                <a:path w="6076315" h="281305">
                  <a:moveTo>
                    <a:pt x="6076315" y="280034"/>
                  </a:moveTo>
                  <a:lnTo>
                    <a:pt x="0" y="280034"/>
                  </a:lnTo>
                </a:path>
                <a:path w="6076315" h="281305">
                  <a:moveTo>
                    <a:pt x="1905" y="281304"/>
                  </a:moveTo>
                  <a:lnTo>
                    <a:pt x="1905" y="0"/>
                  </a:lnTo>
                </a:path>
                <a:path w="6076315" h="281305">
                  <a:moveTo>
                    <a:pt x="0" y="1904"/>
                  </a:moveTo>
                  <a:lnTo>
                    <a:pt x="6076315" y="1904"/>
                  </a:lnTo>
                </a:path>
                <a:path w="6076315" h="281305">
                  <a:moveTo>
                    <a:pt x="6075045" y="0"/>
                  </a:moveTo>
                  <a:lnTo>
                    <a:pt x="6075045" y="281304"/>
                  </a:lnTo>
                </a:path>
                <a:path w="6076315" h="281305">
                  <a:moveTo>
                    <a:pt x="6076315" y="280034"/>
                  </a:moveTo>
                  <a:lnTo>
                    <a:pt x="0" y="280034"/>
                  </a:lnTo>
                </a:path>
                <a:path w="6076315" h="281305">
                  <a:moveTo>
                    <a:pt x="1905" y="281304"/>
                  </a:moveTo>
                  <a:lnTo>
                    <a:pt x="1905" y="0"/>
                  </a:lnTo>
                </a:path>
              </a:pathLst>
            </a:custGeom>
            <a:ln w="3175">
              <a:solidFill>
                <a:srgbClr val="E2E2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264" y="916305"/>
            <a:ext cx="6073140" cy="269494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marL="64769" marR="953135">
              <a:lnSpc>
                <a:spcPts val="1280"/>
              </a:lnSpc>
              <a:spcBef>
                <a:spcPts val="50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sympy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symbols,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Or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,Not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,Implies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,Xor,satisfiable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Rain=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symbols(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'Rain'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64769" marR="103695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Harry_Visted_Hagrid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symbols(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'Harry_Visted_Hagrid'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Harry_Visted_Dumbledore=symbols(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'Harry_Visted_Dumbledore'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sentence_1=</a:t>
            </a:r>
            <a:r>
              <a:rPr dirty="0" sz="1100" spc="-1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Implies(Not(Rain),Harry_Visted_Hagrid) sentence_2=Xor(Harry_Visted_Hagrid,Harry_Visted_Dumbledore) sentence_3=Harry_Visted_Dumbledore</a:t>
            </a:r>
            <a:endParaRPr sz="1100">
              <a:latin typeface="Courier New"/>
              <a:cs typeface="Courier New"/>
            </a:endParaRPr>
          </a:p>
          <a:p>
            <a:pPr marL="64769" marR="1539240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knowledge_base</a:t>
            </a:r>
            <a:r>
              <a:rPr dirty="0" sz="1100" spc="-8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=sentence_1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&amp;</a:t>
            </a:r>
            <a:r>
              <a:rPr dirty="0" sz="1100" spc="-8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sentence_2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&amp;</a:t>
            </a:r>
            <a:r>
              <a:rPr dirty="0" sz="1100" spc="-8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sentence_3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solution</a:t>
            </a:r>
            <a:r>
              <a:rPr dirty="0" sz="1100" spc="-8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=satisfiable(knowledge_base,all_models=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model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solution: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model[Rain]:</a:t>
            </a:r>
            <a:endParaRPr sz="1100">
              <a:latin typeface="Courier New"/>
              <a:cs typeface="Courier New"/>
            </a:endParaRPr>
          </a:p>
          <a:p>
            <a:pPr marL="401320" marR="3222625" indent="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"it</a:t>
            </a:r>
            <a:r>
              <a:rPr dirty="0" sz="1100" spc="-8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rained</a:t>
            </a:r>
            <a:r>
              <a:rPr dirty="0" sz="1100" spc="-7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today:"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737870">
              <a:lnSpc>
                <a:spcPts val="1245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"there</a:t>
            </a:r>
            <a:r>
              <a:rPr dirty="0" sz="1100" spc="-5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is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no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rain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today"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3384550"/>
            <a:ext cx="135826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it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rained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today: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98790"/>
          </a:xfrm>
          <a:custGeom>
            <a:avLst/>
            <a:gdLst/>
            <a:ahLst/>
            <a:cxnLst/>
            <a:rect l="l" t="t" r="r" b="b"/>
            <a:pathLst>
              <a:path w="6076950" h="8098790">
                <a:moveTo>
                  <a:pt x="6076950" y="0"/>
                </a:moveTo>
                <a:lnTo>
                  <a:pt x="0" y="0"/>
                </a:lnTo>
                <a:lnTo>
                  <a:pt x="0" y="8098789"/>
                </a:lnTo>
                <a:lnTo>
                  <a:pt x="6076950" y="8098789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5912485" cy="79959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4377055">
              <a:lnSpc>
                <a:spcPts val="1280"/>
              </a:lnSpc>
              <a:spcBef>
                <a:spcPts val="17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P_burglary=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0.002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P_earthquake=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0.001</a:t>
            </a:r>
            <a:endParaRPr sz="1100">
              <a:latin typeface="Courier New"/>
              <a:cs typeface="Courier New"/>
            </a:endParaRPr>
          </a:p>
          <a:p>
            <a:pPr marL="12700" marR="176847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P_alarm_given_burglary_and_earthquake=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0.94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P_alarm_given_bugrlary_and_no_earthquake=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0.95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P_alarm_given_no_burglary_and_earthquake=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0.31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P_alarm_given_no_burglary_and_no_earthquake=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0.001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P_david_calls_given_alarm=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0.91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P_david_does_not_call_given_alarm=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0.09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P_david_calls_given_no_alarm=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0.05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P_david_does_not_call_given_no_alarm=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0.95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P_sophia_calls_given_alarm=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0.75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P_sophia_does_not_call_given_alarm=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0.25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P_sophia_calls_given_no_alarm=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0.02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P_sophia_does_not_call_given_no_alarm=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0.98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def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joint_probability(alarm,burglary,earthquake,david_calls,sophia_calls):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alarm: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burglary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and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earthquake:</a:t>
            </a:r>
            <a:endParaRPr sz="1100">
              <a:latin typeface="Courier New"/>
              <a:cs typeface="Courier New"/>
            </a:endParaRPr>
          </a:p>
          <a:p>
            <a:pPr marL="685800" marR="1096645" indent="335915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P_alarm=P_alarm_given_burglary_and_earthquake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elif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burglary:</a:t>
            </a:r>
            <a:endParaRPr sz="1100">
              <a:latin typeface="Courier New"/>
              <a:cs typeface="Courier New"/>
            </a:endParaRPr>
          </a:p>
          <a:p>
            <a:pPr marL="685800" marR="844550" indent="3359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P_alarm=P_alarm_given_bugrlary_and_no_earthquake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elif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earthquake:</a:t>
            </a:r>
            <a:endParaRPr sz="1100">
              <a:latin typeface="Courier New"/>
              <a:cs typeface="Courier New"/>
            </a:endParaRPr>
          </a:p>
          <a:p>
            <a:pPr marL="685800" marR="844550" indent="3359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P_alarm=P_alarm_given_no_burglary_and_earthquake 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1021715">
              <a:lnSpc>
                <a:spcPts val="122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P_alarm=P_alarm_given_no_burglary_and_no_earthquake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80"/>
              </a:lnSpc>
            </a:pP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burglary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and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earthquake:</a:t>
            </a:r>
            <a:endParaRPr sz="1100">
              <a:latin typeface="Courier New"/>
              <a:cs typeface="Courier New"/>
            </a:endParaRPr>
          </a:p>
          <a:p>
            <a:pPr marL="685800" marR="927735" indent="335915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-P_alarm_given_burglary_and_earthquake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elif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burglary:</a:t>
            </a:r>
            <a:endParaRPr sz="1100">
              <a:latin typeface="Courier New"/>
              <a:cs typeface="Courier New"/>
            </a:endParaRPr>
          </a:p>
          <a:p>
            <a:pPr marL="685800" marR="675640" indent="3359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-P_alarm_given_bugrlary_and_no_earthquake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elif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earthquake:</a:t>
            </a:r>
            <a:endParaRPr sz="1100">
              <a:latin typeface="Courier New"/>
              <a:cs typeface="Courier New"/>
            </a:endParaRPr>
          </a:p>
          <a:p>
            <a:pPr marL="685800" marR="675640" indent="3359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-P_alarm_given_no_burglary_and_earthquake 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348615" marR="422909" indent="67246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-P_alarm_given_no_burglary_and_no_earthquake P_david=(P_david_calls_given_alarm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david_calls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endParaRPr sz="1100">
              <a:latin typeface="Courier New"/>
              <a:cs typeface="Courier New"/>
            </a:endParaRPr>
          </a:p>
          <a:p>
            <a:pPr marL="12700" marR="176911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P_david_does_not_call_given_alarm)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alarm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else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(P_david_calls_given_no_alarm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david_calls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else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P_david_does_not_call_given_no_alarm)</a:t>
            </a:r>
            <a:endParaRPr sz="1100">
              <a:latin typeface="Courier New"/>
              <a:cs typeface="Courier New"/>
            </a:endParaRPr>
          </a:p>
          <a:p>
            <a:pPr marL="12700" marR="759460" indent="3359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P_sophia=(P_sophia_calls_given_alarm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sophia_calls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else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P_sophia_does_not_call_given_alarm)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alarm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else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(P_sophia_calls_given_no_alarm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sophia_calls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else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P_sophia_does_not_call_given_no_alarm)</a:t>
            </a:r>
            <a:endParaRPr sz="1100">
              <a:latin typeface="Courier New"/>
              <a:cs typeface="Courier New"/>
            </a:endParaRPr>
          </a:p>
          <a:p>
            <a:pPr marL="12700" marR="169545" indent="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(P_burglary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5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burglary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5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-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P_burglary)*(P_earthquake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5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earthquake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-P_earthquake)*P_alarm*P_david*P_sophia result=joint_probability(</a:t>
            </a:r>
            <a:endParaRPr sz="1100">
              <a:latin typeface="Courier New"/>
              <a:cs typeface="Courier New"/>
            </a:endParaRPr>
          </a:p>
          <a:p>
            <a:pPr marL="348615" marR="412432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alarm=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 burglary=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 earthquake=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 david_calls=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264" y="916305"/>
            <a:ext cx="6073140" cy="118237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401320">
              <a:lnSpc>
                <a:spcPts val="1300"/>
              </a:lnSpc>
              <a:spcBef>
                <a:spcPts val="43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sophia_calls=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80"/>
              </a:lnSpc>
            </a:pP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f'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result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:.8f}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596389"/>
            <a:ext cx="85407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 spc="-10">
                <a:latin typeface="Courier New"/>
                <a:cs typeface="Courier New"/>
              </a:rPr>
              <a:t>0.00068045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5900420"/>
            <a:chOff x="847725" y="913764"/>
            <a:chExt cx="6076950" cy="590042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5900420"/>
            </a:xfrm>
            <a:custGeom>
              <a:avLst/>
              <a:gdLst/>
              <a:ahLst/>
              <a:cxnLst/>
              <a:rect l="l" t="t" r="r" b="b"/>
              <a:pathLst>
                <a:path w="6076950" h="5900420">
                  <a:moveTo>
                    <a:pt x="6076950" y="0"/>
                  </a:moveTo>
                  <a:lnTo>
                    <a:pt x="0" y="0"/>
                  </a:lnTo>
                  <a:lnTo>
                    <a:pt x="0" y="5106035"/>
                  </a:lnTo>
                  <a:lnTo>
                    <a:pt x="0" y="5106670"/>
                  </a:lnTo>
                  <a:lnTo>
                    <a:pt x="0" y="5558155"/>
                  </a:lnTo>
                  <a:lnTo>
                    <a:pt x="0" y="5558790"/>
                  </a:lnTo>
                  <a:lnTo>
                    <a:pt x="0" y="5900420"/>
                  </a:lnTo>
                  <a:lnTo>
                    <a:pt x="6076950" y="5900420"/>
                  </a:lnTo>
                  <a:lnTo>
                    <a:pt x="6076950" y="5558790"/>
                  </a:lnTo>
                  <a:lnTo>
                    <a:pt x="6076950" y="5558155"/>
                  </a:lnTo>
                  <a:lnTo>
                    <a:pt x="6076950" y="5106670"/>
                  </a:lnTo>
                  <a:lnTo>
                    <a:pt x="6076950" y="510603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6148069"/>
              <a:ext cx="5300345" cy="324485"/>
            </a:xfrm>
            <a:custGeom>
              <a:avLst/>
              <a:gdLst/>
              <a:ahLst/>
              <a:cxnLst/>
              <a:rect l="l" t="t" r="r" b="b"/>
              <a:pathLst>
                <a:path w="5300345" h="324485">
                  <a:moveTo>
                    <a:pt x="269176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2691765" y="324485"/>
                  </a:lnTo>
                  <a:lnTo>
                    <a:pt x="2691765" y="162560"/>
                  </a:lnTo>
                  <a:close/>
                </a:path>
                <a:path w="5300345" h="324485">
                  <a:moveTo>
                    <a:pt x="530034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300345" y="161925"/>
                  </a:lnTo>
                  <a:lnTo>
                    <a:pt x="530034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5921375" cy="55219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4385945">
              <a:lnSpc>
                <a:spcPts val="1280"/>
              </a:lnSpc>
              <a:spcBef>
                <a:spcPts val="17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numpy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np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class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HMM:</a:t>
            </a:r>
            <a:endParaRPr sz="1100">
              <a:latin typeface="Courier New"/>
              <a:cs typeface="Courier New"/>
            </a:endParaRPr>
          </a:p>
          <a:p>
            <a:pPr marL="685800" marR="1945639" indent="-336550">
              <a:lnSpc>
                <a:spcPts val="1280"/>
              </a:lnSpc>
              <a:tabLst>
                <a:tab pos="854075" algn="l"/>
                <a:tab pos="1358900" algn="l"/>
              </a:tabLst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 </a:t>
            </a:r>
            <a:r>
              <a:rPr dirty="0" u="sng" sz="1100">
                <a:solidFill>
                  <a:srgbClr val="63499A"/>
                </a:solidFill>
                <a:uFill>
                  <a:solidFill>
                    <a:srgbClr val="624899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100" spc="-20">
                <a:solidFill>
                  <a:srgbClr val="63499A"/>
                </a:solidFill>
                <a:latin typeface="Courier New"/>
                <a:cs typeface="Courier New"/>
              </a:rPr>
              <a:t>init</a:t>
            </a:r>
            <a:r>
              <a:rPr dirty="0" u="sng" sz="1100">
                <a:solidFill>
                  <a:srgbClr val="63499A"/>
                </a:solidFill>
                <a:uFill>
                  <a:solidFill>
                    <a:srgbClr val="624899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none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u="none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u="none" sz="1100" spc="-35">
                <a:solidFill>
                  <a:srgbClr val="A95C00"/>
                </a:solidFill>
                <a:latin typeface="Courier New"/>
                <a:cs typeface="Courier New"/>
              </a:rPr>
              <a:t> </a:t>
            </a:r>
            <a:r>
              <a:rPr dirty="0" u="none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u="none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u="none" sz="1100">
                <a:solidFill>
                  <a:srgbClr val="1E1B1A"/>
                </a:solidFill>
                <a:latin typeface="Courier New"/>
                <a:cs typeface="Courier New"/>
              </a:rPr>
              <a:t>states</a:t>
            </a:r>
            <a:r>
              <a:rPr dirty="0" u="none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u="none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u="none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u="none" sz="1100" spc="-10">
                <a:solidFill>
                  <a:srgbClr val="1E1B1A"/>
                </a:solidFill>
                <a:latin typeface="Courier New"/>
                <a:cs typeface="Courier New"/>
              </a:rPr>
              <a:t>observations): </a:t>
            </a:r>
            <a:r>
              <a:rPr dirty="0" u="none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u="none" sz="1100">
                <a:solidFill>
                  <a:srgbClr val="1E1B1A"/>
                </a:solidFill>
                <a:latin typeface="Courier New"/>
                <a:cs typeface="Courier New"/>
              </a:rPr>
              <a:t>.states</a:t>
            </a:r>
            <a:r>
              <a:rPr dirty="0" u="none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u="none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u="none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u="none" sz="1100" spc="-10">
                <a:solidFill>
                  <a:srgbClr val="1E1B1A"/>
                </a:solidFill>
                <a:latin typeface="Courier New"/>
                <a:cs typeface="Courier New"/>
              </a:rPr>
              <a:t>states</a:t>
            </a:r>
            <a:endParaRPr sz="1100">
              <a:latin typeface="Courier New"/>
              <a:cs typeface="Courier New"/>
            </a:endParaRPr>
          </a:p>
          <a:p>
            <a:pPr marL="685800" marR="2702560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.n_states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(states)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.n_obs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(observations)</a:t>
            </a:r>
            <a:endParaRPr sz="1100">
              <a:latin typeface="Courier New"/>
              <a:cs typeface="Courier New"/>
            </a:endParaRPr>
          </a:p>
          <a:p>
            <a:pPr marL="12700" marR="1524000" indent="673100">
              <a:lnSpc>
                <a:spcPts val="1280"/>
              </a:lnSpc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.state_index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{state: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i,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state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in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enumerate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(states)}</a:t>
            </a:r>
            <a:endParaRPr sz="1100">
              <a:latin typeface="Courier New"/>
              <a:cs typeface="Courier New"/>
            </a:endParaRPr>
          </a:p>
          <a:p>
            <a:pPr marL="12700" marR="2028825" indent="673100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.obs_index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{obs: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i,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obs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in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enumerate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(observations)}</a:t>
            </a:r>
            <a:endParaRPr sz="1100">
              <a:latin typeface="Courier New"/>
              <a:cs typeface="Courier New"/>
            </a:endParaRPr>
          </a:p>
          <a:p>
            <a:pPr marL="685800" marR="5080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.A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np.array([[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0.6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0.4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]])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.B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np.array([[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0.8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0.15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0.4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0.7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]])</a:t>
            </a:r>
            <a:endParaRPr sz="1100">
              <a:latin typeface="Courier New"/>
              <a:cs typeface="Courier New"/>
            </a:endParaRPr>
          </a:p>
          <a:p>
            <a:pPr marL="349250" marR="2448560" indent="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.pi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np.array([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8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forward(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8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obs_seq):</a:t>
            </a:r>
            <a:endParaRPr sz="1100">
              <a:latin typeface="Courier New"/>
              <a:cs typeface="Courier New"/>
            </a:endParaRPr>
          </a:p>
          <a:p>
            <a:pPr marL="685165">
              <a:lnSpc>
                <a:spcPts val="122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</a:t>
            </a:r>
            <a:r>
              <a:rPr dirty="0" sz="1100" spc="-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(obs_seq)</a:t>
            </a:r>
            <a:endParaRPr sz="1100">
              <a:latin typeface="Courier New"/>
              <a:cs typeface="Courier New"/>
            </a:endParaRPr>
          </a:p>
          <a:p>
            <a:pPr marL="685165" marR="1691639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alpha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np.zeros((n,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.n_states))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alpha[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.pi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*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.B[:,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obs_seq[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]]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t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range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n):</a:t>
            </a:r>
            <a:endParaRPr sz="1100">
              <a:latin typeface="Courier New"/>
              <a:cs typeface="Courier New"/>
            </a:endParaRPr>
          </a:p>
          <a:p>
            <a:pPr marL="102235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j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range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.n_states):</a:t>
            </a:r>
            <a:endParaRPr sz="1100">
              <a:latin typeface="Courier New"/>
              <a:cs typeface="Courier New"/>
            </a:endParaRPr>
          </a:p>
          <a:p>
            <a:pPr marL="1358265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alpha[t,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j]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(alpha[t-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@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.A[:,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j])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*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self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.B[j,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obs_seq[t]]</a:t>
            </a:r>
            <a:endParaRPr sz="1100">
              <a:latin typeface="Courier New"/>
              <a:cs typeface="Courier New"/>
            </a:endParaRPr>
          </a:p>
          <a:p>
            <a:pPr marL="12700" marR="2868930" indent="67310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alpha.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(axis=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)[-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]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states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'Sunny'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'Cloudy'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'Rainy'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 marR="1860550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observations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'Umbrella'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'Normal'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'Raincoat'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hmm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HMM(states,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observations)</a:t>
            </a:r>
            <a:endParaRPr sz="1100">
              <a:latin typeface="Courier New"/>
              <a:cs typeface="Courier New"/>
            </a:endParaRPr>
          </a:p>
          <a:p>
            <a:pPr marL="12700" marR="1103630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obs_seq</a:t>
            </a:r>
            <a:r>
              <a:rPr dirty="0" sz="1100" spc="-8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'Umbrella'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'Normal'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'Umbrella'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'Raincoat'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obs_seq_indices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[hmm.obs_index[obs]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obs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obs_seq]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prob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hmm.forward(obs_seq_indices)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f"Probability</a:t>
            </a:r>
            <a:r>
              <a:rPr dirty="0" sz="1100" spc="-5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of</a:t>
            </a:r>
            <a:r>
              <a:rPr dirty="0" sz="1100" spc="-5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the</a:t>
            </a:r>
            <a:r>
              <a:rPr dirty="0" sz="1100" spc="-5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observation</a:t>
            </a:r>
            <a:r>
              <a:rPr dirty="0" sz="1100" spc="-5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sequence</a:t>
            </a:r>
            <a:r>
              <a:rPr dirty="0" sz="1100" spc="-55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'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obs_seq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':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prob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:.4f}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601980">
              <a:lnSpc>
                <a:spcPts val="1280"/>
              </a:lnSpc>
              <a:spcBef>
                <a:spcPts val="1040"/>
              </a:spcBef>
            </a:pPr>
            <a:r>
              <a:rPr dirty="0" sz="1100">
                <a:latin typeface="Courier New"/>
                <a:cs typeface="Courier New"/>
              </a:rPr>
              <a:t>Probability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of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the</a:t>
            </a:r>
            <a:r>
              <a:rPr dirty="0" sz="1100" spc="-8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observation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sequence</a:t>
            </a:r>
            <a:r>
              <a:rPr dirty="0" sz="1100" spc="-8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'['Umbrella',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'Normal', </a:t>
            </a:r>
            <a:r>
              <a:rPr dirty="0" sz="1100">
                <a:latin typeface="Courier New"/>
                <a:cs typeface="Courier New"/>
              </a:rPr>
              <a:t>'Umbrella',</a:t>
            </a:r>
            <a:r>
              <a:rPr dirty="0" sz="1100" spc="-13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'Raincoat']':</a:t>
            </a:r>
            <a:r>
              <a:rPr dirty="0" sz="1100" spc="-13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0.0133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5899785"/>
          </a:xfrm>
          <a:custGeom>
            <a:avLst/>
            <a:gdLst/>
            <a:ahLst/>
            <a:cxnLst/>
            <a:rect l="l" t="t" r="r" b="b"/>
            <a:pathLst>
              <a:path w="6076315" h="5899784">
                <a:moveTo>
                  <a:pt x="0" y="1904"/>
                </a:moveTo>
                <a:lnTo>
                  <a:pt x="6076315" y="1904"/>
                </a:lnTo>
              </a:path>
              <a:path w="6076315" h="5899784">
                <a:moveTo>
                  <a:pt x="6075045" y="0"/>
                </a:moveTo>
                <a:lnTo>
                  <a:pt x="6075045" y="5233035"/>
                </a:lnTo>
              </a:path>
              <a:path w="6076315" h="5899784">
                <a:moveTo>
                  <a:pt x="1905" y="5233035"/>
                </a:moveTo>
                <a:lnTo>
                  <a:pt x="1905" y="0"/>
                </a:lnTo>
              </a:path>
              <a:path w="6076315" h="5899784">
                <a:moveTo>
                  <a:pt x="6075045" y="5106035"/>
                </a:moveTo>
                <a:lnTo>
                  <a:pt x="6075045" y="5685155"/>
                </a:lnTo>
              </a:path>
              <a:path w="6076315" h="5899784">
                <a:moveTo>
                  <a:pt x="1905" y="5685155"/>
                </a:moveTo>
                <a:lnTo>
                  <a:pt x="1905" y="5106035"/>
                </a:lnTo>
              </a:path>
              <a:path w="6076315" h="5899784">
                <a:moveTo>
                  <a:pt x="6075045" y="5558155"/>
                </a:moveTo>
                <a:lnTo>
                  <a:pt x="6075045" y="5899785"/>
                </a:lnTo>
              </a:path>
              <a:path w="6076315" h="5899784">
                <a:moveTo>
                  <a:pt x="6076315" y="5898515"/>
                </a:moveTo>
                <a:lnTo>
                  <a:pt x="0" y="5898515"/>
                </a:lnTo>
              </a:path>
              <a:path w="6076315" h="5899784">
                <a:moveTo>
                  <a:pt x="1905" y="5899785"/>
                </a:moveTo>
                <a:lnTo>
                  <a:pt x="1905" y="5558155"/>
                </a:lnTo>
              </a:path>
              <a:path w="6076315" h="5899784">
                <a:moveTo>
                  <a:pt x="0" y="1904"/>
                </a:moveTo>
                <a:lnTo>
                  <a:pt x="6076315" y="1904"/>
                </a:lnTo>
              </a:path>
              <a:path w="6076315" h="5899784">
                <a:moveTo>
                  <a:pt x="6075045" y="0"/>
                </a:moveTo>
                <a:lnTo>
                  <a:pt x="6075045" y="5233035"/>
                </a:lnTo>
              </a:path>
              <a:path w="6076315" h="5899784">
                <a:moveTo>
                  <a:pt x="1905" y="5233035"/>
                </a:moveTo>
                <a:lnTo>
                  <a:pt x="1905" y="0"/>
                </a:lnTo>
              </a:path>
              <a:path w="6076315" h="5899784">
                <a:moveTo>
                  <a:pt x="6075045" y="5106035"/>
                </a:moveTo>
                <a:lnTo>
                  <a:pt x="6075045" y="5685155"/>
                </a:lnTo>
              </a:path>
              <a:path w="6076315" h="5899784">
                <a:moveTo>
                  <a:pt x="1905" y="5685155"/>
                </a:moveTo>
                <a:lnTo>
                  <a:pt x="1905" y="5106035"/>
                </a:lnTo>
              </a:path>
              <a:path w="6076315" h="5899784">
                <a:moveTo>
                  <a:pt x="6075045" y="5558155"/>
                </a:moveTo>
                <a:lnTo>
                  <a:pt x="6075045" y="5899785"/>
                </a:lnTo>
              </a:path>
              <a:path w="6076315" h="5899784">
                <a:moveTo>
                  <a:pt x="6076315" y="5898515"/>
                </a:moveTo>
                <a:lnTo>
                  <a:pt x="0" y="5898515"/>
                </a:lnTo>
              </a:path>
              <a:path w="6076315" h="5899784">
                <a:moveTo>
                  <a:pt x="1905" y="5899785"/>
                </a:moveTo>
                <a:lnTo>
                  <a:pt x="1905" y="555815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210550"/>
          </a:xfrm>
          <a:custGeom>
            <a:avLst/>
            <a:gdLst/>
            <a:ahLst/>
            <a:cxnLst/>
            <a:rect l="l" t="t" r="r" b="b"/>
            <a:pathLst>
              <a:path w="6076950" h="8210550">
                <a:moveTo>
                  <a:pt x="6076950" y="0"/>
                </a:moveTo>
                <a:lnTo>
                  <a:pt x="0" y="0"/>
                </a:lnTo>
                <a:lnTo>
                  <a:pt x="0" y="554355"/>
                </a:lnTo>
                <a:lnTo>
                  <a:pt x="0" y="554990"/>
                </a:lnTo>
                <a:lnTo>
                  <a:pt x="0" y="8210550"/>
                </a:lnTo>
                <a:lnTo>
                  <a:pt x="6076950" y="8210550"/>
                </a:lnTo>
                <a:lnTo>
                  <a:pt x="6076950" y="55435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3223895" cy="97028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1604645">
              <a:lnSpc>
                <a:spcPts val="1280"/>
              </a:lnSpc>
              <a:spcBef>
                <a:spcPts val="17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numpy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np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pandas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matplotlib.pyplot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plt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dataset=pd.read_csv(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'Salary_Data.csv'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dataset.head()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048510"/>
            <a:ext cx="2284095" cy="9747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253365">
              <a:lnSpc>
                <a:spcPts val="1215"/>
              </a:lnSpc>
              <a:tabLst>
                <a:tab pos="1767205" algn="l"/>
              </a:tabLst>
            </a:pPr>
            <a:r>
              <a:rPr dirty="0" sz="1100" spc="-10">
                <a:latin typeface="Courier New"/>
                <a:cs typeface="Courier New"/>
              </a:rPr>
              <a:t>YearsExperience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Salary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262380" algn="l"/>
                <a:tab pos="1682750" algn="l"/>
              </a:tabLst>
            </a:pPr>
            <a:r>
              <a:rPr dirty="0" sz="1100" spc="-50">
                <a:latin typeface="Courier New"/>
                <a:cs typeface="Courier New"/>
              </a:rPr>
              <a:t>0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1.1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39343.0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262380" algn="l"/>
                <a:tab pos="1682750" algn="l"/>
              </a:tabLst>
            </a:pPr>
            <a:r>
              <a:rPr dirty="0" sz="1100" spc="-50">
                <a:latin typeface="Courier New"/>
                <a:cs typeface="Courier New"/>
              </a:rPr>
              <a:t>1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1.3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46205.0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262380" algn="l"/>
                <a:tab pos="1682750" algn="l"/>
              </a:tabLst>
            </a:pPr>
            <a:r>
              <a:rPr dirty="0" sz="1100" spc="-50">
                <a:latin typeface="Courier New"/>
                <a:cs typeface="Courier New"/>
              </a:rPr>
              <a:t>2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1.5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37731.0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262380" algn="l"/>
                <a:tab pos="1682750" algn="l"/>
              </a:tabLst>
            </a:pPr>
            <a:r>
              <a:rPr dirty="0" sz="1100" spc="-50">
                <a:latin typeface="Courier New"/>
                <a:cs typeface="Courier New"/>
              </a:rPr>
              <a:t>3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2.0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43525.0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1262380" algn="l"/>
                <a:tab pos="1682750" algn="l"/>
              </a:tabLst>
            </a:pPr>
            <a:r>
              <a:rPr dirty="0" sz="1100" spc="-50">
                <a:latin typeface="Courier New"/>
                <a:cs typeface="Courier New"/>
              </a:rPr>
              <a:t>4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2.2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39891.0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3127375"/>
            <a:ext cx="5916930" cy="6807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sklearn.model_selection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train_test_split x_train,x_test,y_train,y_test=train_test_split(x,y,test_size=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/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,rando m_state=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x_test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3928109"/>
            <a:ext cx="1190625" cy="146304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1215"/>
              </a:lnSpc>
            </a:pPr>
            <a:r>
              <a:rPr dirty="0" sz="1100">
                <a:latin typeface="Courier New"/>
                <a:cs typeface="Courier New"/>
              </a:rPr>
              <a:t>array([[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1.5],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</a:pPr>
            <a:r>
              <a:rPr dirty="0" sz="1100" spc="-10">
                <a:latin typeface="Courier New"/>
                <a:cs typeface="Courier New"/>
              </a:rPr>
              <a:t>[10.3],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4.1],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3.9],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9.5],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8.7],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9.6],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4.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30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5.3],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5391150"/>
            <a:ext cx="127444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58991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7.9]])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5657215"/>
            <a:ext cx="2382520" cy="518159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x=dataset.iloc[:,:-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].values y=dataset.iloc[:,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].values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x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400" y="6295390"/>
          <a:ext cx="1263650" cy="2757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6280"/>
                <a:gridCol w="471805"/>
              </a:tblGrid>
              <a:tr h="161290">
                <a:tc>
                  <a:txBody>
                    <a:bodyPr/>
                    <a:lstStyle/>
                    <a:p>
                      <a:pPr algn="r" marR="3429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array([[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1.1],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1.3],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1.5],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2.</a:t>
                      </a:r>
                      <a:r>
                        <a:rPr dirty="0" sz="11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Courier New"/>
                          <a:cs typeface="Courier New"/>
                        </a:rPr>
                        <a:t>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2.2],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2.9],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3.</a:t>
                      </a:r>
                      <a:r>
                        <a:rPr dirty="0" sz="11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Courier New"/>
                          <a:cs typeface="Courier New"/>
                        </a:rPr>
                        <a:t>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3.2],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3.2],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3.7],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3.9],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4.</a:t>
                      </a:r>
                      <a:r>
                        <a:rPr dirty="0" sz="11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Courier New"/>
                          <a:cs typeface="Courier New"/>
                        </a:rPr>
                        <a:t>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4.</a:t>
                      </a:r>
                      <a:r>
                        <a:rPr dirty="0" sz="1100" spc="-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Courier New"/>
                          <a:cs typeface="Courier New"/>
                        </a:rPr>
                        <a:t>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4.1],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4.5],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4.9],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[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5.1],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848360" y="914400"/>
            <a:ext cx="6076315" cy="8209915"/>
          </a:xfrm>
          <a:custGeom>
            <a:avLst/>
            <a:gdLst/>
            <a:ahLst/>
            <a:cxnLst/>
            <a:rect l="l" t="t" r="r" b="b"/>
            <a:pathLst>
              <a:path w="6076315" h="8209915">
                <a:moveTo>
                  <a:pt x="0" y="1904"/>
                </a:moveTo>
                <a:lnTo>
                  <a:pt x="6076315" y="1904"/>
                </a:lnTo>
              </a:path>
              <a:path w="6076315" h="8209915">
                <a:moveTo>
                  <a:pt x="6075045" y="0"/>
                </a:moveTo>
                <a:lnTo>
                  <a:pt x="6075045" y="681354"/>
                </a:lnTo>
              </a:path>
              <a:path w="6076315" h="8209915">
                <a:moveTo>
                  <a:pt x="1905" y="681354"/>
                </a:moveTo>
                <a:lnTo>
                  <a:pt x="1905" y="0"/>
                </a:lnTo>
              </a:path>
              <a:path w="6076315" h="8209915">
                <a:moveTo>
                  <a:pt x="6075045" y="554354"/>
                </a:moveTo>
                <a:lnTo>
                  <a:pt x="6075045" y="1133475"/>
                </a:lnTo>
              </a:path>
              <a:path w="6076315" h="8209915">
                <a:moveTo>
                  <a:pt x="1905" y="1133475"/>
                </a:moveTo>
                <a:lnTo>
                  <a:pt x="1905" y="554354"/>
                </a:lnTo>
              </a:path>
              <a:path w="6076315" h="8209915">
                <a:moveTo>
                  <a:pt x="6075045" y="1006475"/>
                </a:moveTo>
                <a:lnTo>
                  <a:pt x="6075045" y="2235834"/>
                </a:lnTo>
              </a:path>
              <a:path w="6076315" h="8209915">
                <a:moveTo>
                  <a:pt x="1905" y="2235834"/>
                </a:moveTo>
                <a:lnTo>
                  <a:pt x="1905" y="1006475"/>
                </a:lnTo>
              </a:path>
              <a:path w="6076315" h="8209915">
                <a:moveTo>
                  <a:pt x="6075045" y="2108834"/>
                </a:moveTo>
                <a:lnTo>
                  <a:pt x="6075045" y="3013075"/>
                </a:lnTo>
              </a:path>
              <a:path w="6076315" h="8209915">
                <a:moveTo>
                  <a:pt x="1905" y="3013075"/>
                </a:moveTo>
                <a:lnTo>
                  <a:pt x="1905" y="2108834"/>
                </a:lnTo>
              </a:path>
              <a:path w="6076315" h="8209915">
                <a:moveTo>
                  <a:pt x="6075045" y="2886075"/>
                </a:moveTo>
                <a:lnTo>
                  <a:pt x="6075045" y="4765675"/>
                </a:lnTo>
              </a:path>
              <a:path w="6076315" h="8209915">
                <a:moveTo>
                  <a:pt x="1905" y="4765675"/>
                </a:moveTo>
                <a:lnTo>
                  <a:pt x="1905" y="2886075"/>
                </a:lnTo>
              </a:path>
              <a:path w="6076315" h="8209915">
                <a:moveTo>
                  <a:pt x="6075045" y="4638675"/>
                </a:moveTo>
                <a:lnTo>
                  <a:pt x="6075045" y="5380355"/>
                </a:lnTo>
              </a:path>
              <a:path w="6076315" h="8209915">
                <a:moveTo>
                  <a:pt x="1905" y="5380355"/>
                </a:moveTo>
                <a:lnTo>
                  <a:pt x="1905" y="4638675"/>
                </a:lnTo>
              </a:path>
              <a:path w="6076315" h="8209915">
                <a:moveTo>
                  <a:pt x="6075045" y="5253355"/>
                </a:moveTo>
                <a:lnTo>
                  <a:pt x="6075045" y="8209915"/>
                </a:lnTo>
              </a:path>
              <a:path w="6076315" h="8209915">
                <a:moveTo>
                  <a:pt x="6076315" y="8208645"/>
                </a:moveTo>
                <a:lnTo>
                  <a:pt x="0" y="8208645"/>
                </a:lnTo>
              </a:path>
              <a:path w="6076315" h="8209915">
                <a:moveTo>
                  <a:pt x="1905" y="8209915"/>
                </a:moveTo>
                <a:lnTo>
                  <a:pt x="1905" y="5253355"/>
                </a:lnTo>
              </a:path>
              <a:path w="6076315" h="8209915">
                <a:moveTo>
                  <a:pt x="0" y="1904"/>
                </a:moveTo>
                <a:lnTo>
                  <a:pt x="6076315" y="1904"/>
                </a:lnTo>
              </a:path>
              <a:path w="6076315" h="8209915">
                <a:moveTo>
                  <a:pt x="6075045" y="0"/>
                </a:moveTo>
                <a:lnTo>
                  <a:pt x="6075045" y="681354"/>
                </a:lnTo>
              </a:path>
              <a:path w="6076315" h="8209915">
                <a:moveTo>
                  <a:pt x="1905" y="681354"/>
                </a:moveTo>
                <a:lnTo>
                  <a:pt x="1905" y="0"/>
                </a:lnTo>
              </a:path>
              <a:path w="6076315" h="8209915">
                <a:moveTo>
                  <a:pt x="6075045" y="554354"/>
                </a:moveTo>
                <a:lnTo>
                  <a:pt x="6075045" y="1133475"/>
                </a:lnTo>
              </a:path>
              <a:path w="6076315" h="8209915">
                <a:moveTo>
                  <a:pt x="1905" y="1133475"/>
                </a:moveTo>
                <a:lnTo>
                  <a:pt x="1905" y="554354"/>
                </a:lnTo>
              </a:path>
              <a:path w="6076315" h="8209915">
                <a:moveTo>
                  <a:pt x="6075045" y="1006475"/>
                </a:moveTo>
                <a:lnTo>
                  <a:pt x="6075045" y="2235834"/>
                </a:lnTo>
              </a:path>
              <a:path w="6076315" h="8209915">
                <a:moveTo>
                  <a:pt x="1905" y="2235834"/>
                </a:moveTo>
                <a:lnTo>
                  <a:pt x="1905" y="1006475"/>
                </a:lnTo>
              </a:path>
              <a:path w="6076315" h="8209915">
                <a:moveTo>
                  <a:pt x="6075045" y="2108834"/>
                </a:moveTo>
                <a:lnTo>
                  <a:pt x="6075045" y="3013075"/>
                </a:lnTo>
              </a:path>
              <a:path w="6076315" h="8209915">
                <a:moveTo>
                  <a:pt x="1905" y="3013075"/>
                </a:moveTo>
                <a:lnTo>
                  <a:pt x="1905" y="2108834"/>
                </a:lnTo>
              </a:path>
              <a:path w="6076315" h="8209915">
                <a:moveTo>
                  <a:pt x="6075045" y="2886075"/>
                </a:moveTo>
                <a:lnTo>
                  <a:pt x="6075045" y="4765675"/>
                </a:lnTo>
              </a:path>
              <a:path w="6076315" h="8209915">
                <a:moveTo>
                  <a:pt x="1905" y="4765675"/>
                </a:moveTo>
                <a:lnTo>
                  <a:pt x="1905" y="2886075"/>
                </a:lnTo>
              </a:path>
              <a:path w="6076315" h="8209915">
                <a:moveTo>
                  <a:pt x="6075045" y="4638675"/>
                </a:moveTo>
                <a:lnTo>
                  <a:pt x="6075045" y="5380355"/>
                </a:lnTo>
              </a:path>
              <a:path w="6076315" h="8209915">
                <a:moveTo>
                  <a:pt x="1905" y="5380355"/>
                </a:moveTo>
                <a:lnTo>
                  <a:pt x="1905" y="4638675"/>
                </a:lnTo>
              </a:path>
              <a:path w="6076315" h="8209915">
                <a:moveTo>
                  <a:pt x="6075045" y="5253355"/>
                </a:moveTo>
                <a:lnTo>
                  <a:pt x="6075045" y="8209915"/>
                </a:lnTo>
              </a:path>
              <a:path w="6076315" h="8209915">
                <a:moveTo>
                  <a:pt x="6076315" y="8208645"/>
                </a:moveTo>
                <a:lnTo>
                  <a:pt x="0" y="8208645"/>
                </a:lnTo>
              </a:path>
              <a:path w="6076315" h="8209915">
                <a:moveTo>
                  <a:pt x="1905" y="8209915"/>
                </a:moveTo>
                <a:lnTo>
                  <a:pt x="1905" y="525335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6386830"/>
            <a:chOff x="847725" y="913764"/>
            <a:chExt cx="6076950" cy="638683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6386830"/>
            </a:xfrm>
            <a:custGeom>
              <a:avLst/>
              <a:gdLst/>
              <a:ahLst/>
              <a:cxnLst/>
              <a:rect l="l" t="t" r="r" b="b"/>
              <a:pathLst>
                <a:path w="6076950" h="6386830">
                  <a:moveTo>
                    <a:pt x="6076950" y="0"/>
                  </a:moveTo>
                  <a:lnTo>
                    <a:pt x="0" y="0"/>
                  </a:lnTo>
                  <a:lnTo>
                    <a:pt x="0" y="2179955"/>
                  </a:lnTo>
                  <a:lnTo>
                    <a:pt x="0" y="2180590"/>
                  </a:lnTo>
                  <a:lnTo>
                    <a:pt x="0" y="6386830"/>
                  </a:lnTo>
                  <a:lnTo>
                    <a:pt x="6076950" y="6386830"/>
                  </a:lnTo>
                  <a:lnTo>
                    <a:pt x="6076950" y="217995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1261745" cy="2112645"/>
            </a:xfrm>
            <a:custGeom>
              <a:avLst/>
              <a:gdLst/>
              <a:ahLst/>
              <a:cxnLst/>
              <a:rect l="l" t="t" r="r" b="b"/>
              <a:pathLst>
                <a:path w="1261745" h="2112645">
                  <a:moveTo>
                    <a:pt x="117792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1177925" y="1950085"/>
                  </a:lnTo>
                  <a:lnTo>
                    <a:pt x="1177925" y="1788160"/>
                  </a:lnTo>
                  <a:close/>
                </a:path>
                <a:path w="1261745" h="2112645">
                  <a:moveTo>
                    <a:pt x="117792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1177925" y="1787525"/>
                  </a:lnTo>
                  <a:lnTo>
                    <a:pt x="1177925" y="1625600"/>
                  </a:lnTo>
                  <a:close/>
                </a:path>
                <a:path w="1261745" h="2112645">
                  <a:moveTo>
                    <a:pt x="117792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1177925" y="1624965"/>
                  </a:lnTo>
                  <a:lnTo>
                    <a:pt x="1177925" y="1463040"/>
                  </a:lnTo>
                  <a:close/>
                </a:path>
                <a:path w="1261745" h="2112645">
                  <a:moveTo>
                    <a:pt x="117792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1177925" y="1462405"/>
                  </a:lnTo>
                  <a:lnTo>
                    <a:pt x="1177925" y="1300480"/>
                  </a:lnTo>
                  <a:close/>
                </a:path>
                <a:path w="1261745" h="2112645">
                  <a:moveTo>
                    <a:pt x="117792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1177925" y="1299845"/>
                  </a:lnTo>
                  <a:lnTo>
                    <a:pt x="1177925" y="1137920"/>
                  </a:lnTo>
                  <a:close/>
                </a:path>
                <a:path w="1261745" h="2112645">
                  <a:moveTo>
                    <a:pt x="117792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1177925" y="1137285"/>
                  </a:lnTo>
                  <a:lnTo>
                    <a:pt x="1177925" y="975360"/>
                  </a:lnTo>
                  <a:close/>
                </a:path>
                <a:path w="1261745" h="2112645">
                  <a:moveTo>
                    <a:pt x="117792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1177925" y="974725"/>
                  </a:lnTo>
                  <a:lnTo>
                    <a:pt x="1177925" y="812800"/>
                  </a:lnTo>
                  <a:close/>
                </a:path>
                <a:path w="1261745" h="2112645">
                  <a:moveTo>
                    <a:pt x="117792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1177925" y="812165"/>
                  </a:lnTo>
                  <a:lnTo>
                    <a:pt x="1177925" y="650240"/>
                  </a:lnTo>
                  <a:close/>
                </a:path>
                <a:path w="1261745" h="2112645">
                  <a:moveTo>
                    <a:pt x="117792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1177925" y="649605"/>
                  </a:lnTo>
                  <a:lnTo>
                    <a:pt x="1177925" y="487680"/>
                  </a:lnTo>
                  <a:close/>
                </a:path>
                <a:path w="1261745" h="2112645">
                  <a:moveTo>
                    <a:pt x="117792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1177925" y="487045"/>
                  </a:lnTo>
                  <a:lnTo>
                    <a:pt x="1177925" y="325120"/>
                  </a:lnTo>
                  <a:close/>
                </a:path>
                <a:path w="1261745" h="2112645">
                  <a:moveTo>
                    <a:pt x="117792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1177925" y="324485"/>
                  </a:lnTo>
                  <a:lnTo>
                    <a:pt x="1177925" y="162560"/>
                  </a:lnTo>
                  <a:close/>
                </a:path>
                <a:path w="1261745" h="2112645">
                  <a:moveTo>
                    <a:pt x="11779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1177925" y="161925"/>
                  </a:lnTo>
                  <a:lnTo>
                    <a:pt x="1177925" y="0"/>
                  </a:lnTo>
                  <a:close/>
                </a:path>
                <a:path w="1261745" h="2112645">
                  <a:moveTo>
                    <a:pt x="126174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1261745" y="2112645"/>
                  </a:lnTo>
                  <a:lnTo>
                    <a:pt x="1261745" y="195072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14400" y="3836670"/>
            <a:ext cx="152717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 spc="-10">
                <a:latin typeface="Courier New"/>
                <a:cs typeface="Courier New"/>
              </a:rPr>
              <a:t>LinearRegression()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4578349"/>
            <a:ext cx="5805805" cy="1553845"/>
          </a:xfrm>
          <a:custGeom>
            <a:avLst/>
            <a:gdLst/>
            <a:ahLst/>
            <a:cxnLst/>
            <a:rect l="l" t="t" r="r" b="b"/>
            <a:pathLst>
              <a:path w="5805805" h="1553845">
                <a:moveTo>
                  <a:pt x="126174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1261745" y="649605"/>
                </a:lnTo>
                <a:lnTo>
                  <a:pt x="1261745" y="487680"/>
                </a:lnTo>
                <a:close/>
              </a:path>
              <a:path w="5805805" h="1553845">
                <a:moveTo>
                  <a:pt x="12617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261745" y="324485"/>
                </a:lnTo>
                <a:lnTo>
                  <a:pt x="1261745" y="162560"/>
                </a:lnTo>
                <a:close/>
              </a:path>
              <a:path w="5805805" h="1553845">
                <a:moveTo>
                  <a:pt x="2860675" y="1391920"/>
                </a:moveTo>
                <a:lnTo>
                  <a:pt x="0" y="1391920"/>
                </a:lnTo>
                <a:lnTo>
                  <a:pt x="0" y="1553845"/>
                </a:lnTo>
                <a:lnTo>
                  <a:pt x="2860675" y="1553845"/>
                </a:lnTo>
                <a:lnTo>
                  <a:pt x="2860675" y="1391920"/>
                </a:lnTo>
                <a:close/>
              </a:path>
              <a:path w="5805805" h="1553845">
                <a:moveTo>
                  <a:pt x="344995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3449955" y="812165"/>
                </a:lnTo>
                <a:lnTo>
                  <a:pt x="3449955" y="650240"/>
                </a:lnTo>
                <a:close/>
              </a:path>
              <a:path w="5805805" h="1553845">
                <a:moveTo>
                  <a:pt x="479615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4796155" y="487045"/>
                </a:lnTo>
                <a:lnTo>
                  <a:pt x="4796155" y="325120"/>
                </a:lnTo>
                <a:close/>
              </a:path>
              <a:path w="5805805" h="1553845">
                <a:moveTo>
                  <a:pt x="4796155" y="0"/>
                </a:moveTo>
                <a:lnTo>
                  <a:pt x="0" y="0"/>
                </a:lnTo>
                <a:lnTo>
                  <a:pt x="0" y="161925"/>
                </a:lnTo>
                <a:lnTo>
                  <a:pt x="4796155" y="161925"/>
                </a:lnTo>
                <a:lnTo>
                  <a:pt x="4796155" y="0"/>
                </a:lnTo>
                <a:close/>
              </a:path>
              <a:path w="5805805" h="1553845">
                <a:moveTo>
                  <a:pt x="5805805" y="1229360"/>
                </a:moveTo>
                <a:lnTo>
                  <a:pt x="0" y="1229360"/>
                </a:lnTo>
                <a:lnTo>
                  <a:pt x="0" y="1391285"/>
                </a:lnTo>
                <a:lnTo>
                  <a:pt x="5805805" y="1391285"/>
                </a:lnTo>
                <a:lnTo>
                  <a:pt x="5805805" y="12293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0264" y="958215"/>
            <a:ext cx="6073140" cy="6283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54050">
              <a:lnSpc>
                <a:spcPts val="1300"/>
              </a:lnSpc>
              <a:spcBef>
                <a:spcPts val="100"/>
              </a:spcBef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5.3],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5.9],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6.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6.8],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7.1],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7.9],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8.2],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8.7],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9.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9.5],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9.6],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 spc="-10">
                <a:latin typeface="Courier New"/>
                <a:cs typeface="Courier New"/>
              </a:rPr>
              <a:t>[10.3],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300"/>
              </a:lnSpc>
            </a:pPr>
            <a:r>
              <a:rPr dirty="0" sz="1100" spc="-10">
                <a:latin typeface="Courier New"/>
                <a:cs typeface="Courier New"/>
              </a:rPr>
              <a:t>[10.5]])</a:t>
            </a:r>
            <a:endParaRPr sz="1100">
              <a:latin typeface="Courier New"/>
              <a:cs typeface="Courier New"/>
            </a:endParaRPr>
          </a:p>
          <a:p>
            <a:pPr marL="64769" marR="1877695">
              <a:lnSpc>
                <a:spcPts val="1280"/>
              </a:lnSpc>
              <a:spcBef>
                <a:spcPts val="103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sklearn.linear_model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LinearRegression regressor=LinearRegression() regressor.fit(x_train,y_train)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100">
              <a:latin typeface="Courier New"/>
              <a:cs typeface="Courier New"/>
            </a:endParaRPr>
          </a:p>
          <a:p>
            <a:pPr marL="64769" marR="330898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y_pred=regressor.predict(x_test) y_pred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  <a:spcBef>
                <a:spcPts val="925"/>
              </a:spcBef>
              <a:tabLst>
                <a:tab pos="3597275" algn="l"/>
              </a:tabLst>
            </a:pPr>
            <a:r>
              <a:rPr dirty="0" sz="1100">
                <a:latin typeface="Courier New"/>
                <a:cs typeface="Courier New"/>
              </a:rPr>
              <a:t>array([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40835.10590871,</a:t>
            </a:r>
            <a:r>
              <a:rPr dirty="0" sz="1100" spc="-5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123079.39940819,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65134.55626083,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80"/>
              </a:lnSpc>
            </a:pPr>
            <a:r>
              <a:rPr dirty="0" sz="1100" spc="-10">
                <a:latin typeface="Courier New"/>
                <a:cs typeface="Courier New"/>
              </a:rPr>
              <a:t>63265.36777221,</a:t>
            </a:r>
            <a:endParaRPr sz="1100">
              <a:latin typeface="Courier New"/>
              <a:cs typeface="Courier New"/>
            </a:endParaRPr>
          </a:p>
          <a:p>
            <a:pPr marL="654050">
              <a:lnSpc>
                <a:spcPts val="1280"/>
              </a:lnSpc>
            </a:pPr>
            <a:r>
              <a:rPr dirty="0" sz="1100" spc="-10">
                <a:latin typeface="Courier New"/>
                <a:cs typeface="Courier New"/>
              </a:rPr>
              <a:t>115602.64545369,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108125.8914992</a:t>
            </a:r>
            <a:r>
              <a:rPr dirty="0" sz="1100" spc="-6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,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116537.23969801,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80"/>
              </a:lnSpc>
            </a:pPr>
            <a:r>
              <a:rPr dirty="0" sz="1100" spc="-10">
                <a:latin typeface="Courier New"/>
                <a:cs typeface="Courier New"/>
              </a:rPr>
              <a:t>64199.96201652,</a:t>
            </a:r>
            <a:endParaRPr sz="1100">
              <a:latin typeface="Courier New"/>
              <a:cs typeface="Courier New"/>
            </a:endParaRPr>
          </a:p>
          <a:p>
            <a:pPr marL="737870">
              <a:lnSpc>
                <a:spcPts val="1300"/>
              </a:lnSpc>
            </a:pPr>
            <a:r>
              <a:rPr dirty="0" sz="1100" spc="-10">
                <a:latin typeface="Courier New"/>
                <a:cs typeface="Courier New"/>
              </a:rPr>
              <a:t>76349.68719258,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100649.1375447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])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6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y_test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  <a:spcBef>
                <a:spcPts val="960"/>
              </a:spcBef>
              <a:tabLst>
                <a:tab pos="2251710" algn="l"/>
                <a:tab pos="3008630" algn="l"/>
              </a:tabLst>
            </a:pPr>
            <a:r>
              <a:rPr dirty="0" sz="1100">
                <a:latin typeface="Courier New"/>
                <a:cs typeface="Courier New"/>
              </a:rPr>
              <a:t>array([</a:t>
            </a:r>
            <a:r>
              <a:rPr dirty="0" sz="1100" spc="-8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37731.,</a:t>
            </a:r>
            <a:r>
              <a:rPr dirty="0" sz="1100" spc="-7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122391.,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57081.,</a:t>
            </a:r>
            <a:r>
              <a:rPr dirty="0" sz="1100">
                <a:latin typeface="Courier New"/>
                <a:cs typeface="Courier New"/>
              </a:rPr>
              <a:t>	63218.,</a:t>
            </a:r>
            <a:r>
              <a:rPr dirty="0" sz="1100" spc="-8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116969.,</a:t>
            </a:r>
            <a:r>
              <a:rPr dirty="0" sz="1100" spc="-8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109431.,</a:t>
            </a:r>
            <a:r>
              <a:rPr dirty="0" sz="1100" spc="-8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112635.,</a:t>
            </a:r>
            <a:endParaRPr sz="1100">
              <a:latin typeface="Courier New"/>
              <a:cs typeface="Courier New"/>
            </a:endParaRPr>
          </a:p>
          <a:p>
            <a:pPr marL="737870">
              <a:lnSpc>
                <a:spcPts val="1300"/>
              </a:lnSpc>
              <a:tabLst>
                <a:tab pos="1494790" algn="l"/>
              </a:tabLst>
            </a:pPr>
            <a:r>
              <a:rPr dirty="0" sz="1100" spc="-10">
                <a:latin typeface="Courier New"/>
                <a:cs typeface="Courier New"/>
              </a:rPr>
              <a:t>55794.,</a:t>
            </a:r>
            <a:r>
              <a:rPr dirty="0" sz="1100">
                <a:latin typeface="Courier New"/>
                <a:cs typeface="Courier New"/>
              </a:rPr>
              <a:t>	83088.,</a:t>
            </a:r>
            <a:r>
              <a:rPr dirty="0" sz="1100" spc="-8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101302.])</a:t>
            </a:r>
            <a:endParaRPr sz="1100">
              <a:latin typeface="Courier New"/>
              <a:cs typeface="Courier New"/>
            </a:endParaRPr>
          </a:p>
          <a:p>
            <a:pPr marL="64769" marR="1203325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plt.scatter(x_train,y_train,color=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'red'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plt.plot(x_train,regressor.predict(x_train),color=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'blue'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plt.title(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"Salary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vs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Experience(Training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set)"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plt.xlabel(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"Years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dirty="0" sz="1100" spc="-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Experience"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4148454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plt.ylabel(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"Salaries"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plt.show()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8360" y="914400"/>
            <a:ext cx="6076315" cy="6386195"/>
          </a:xfrm>
          <a:custGeom>
            <a:avLst/>
            <a:gdLst/>
            <a:ahLst/>
            <a:cxnLst/>
            <a:rect l="l" t="t" r="r" b="b"/>
            <a:pathLst>
              <a:path w="6076315" h="6386195">
                <a:moveTo>
                  <a:pt x="0" y="1904"/>
                </a:moveTo>
                <a:lnTo>
                  <a:pt x="6076315" y="1904"/>
                </a:lnTo>
              </a:path>
              <a:path w="6076315" h="6386195">
                <a:moveTo>
                  <a:pt x="6075045" y="0"/>
                </a:moveTo>
                <a:lnTo>
                  <a:pt x="6075045" y="2306954"/>
                </a:lnTo>
              </a:path>
              <a:path w="6076315" h="6386195">
                <a:moveTo>
                  <a:pt x="1905" y="2306954"/>
                </a:moveTo>
                <a:lnTo>
                  <a:pt x="1905" y="0"/>
                </a:lnTo>
              </a:path>
              <a:path w="6076315" h="6386195">
                <a:moveTo>
                  <a:pt x="6075045" y="2179954"/>
                </a:moveTo>
                <a:lnTo>
                  <a:pt x="6075045" y="2921635"/>
                </a:lnTo>
              </a:path>
              <a:path w="6076315" h="6386195">
                <a:moveTo>
                  <a:pt x="1905" y="2921635"/>
                </a:moveTo>
                <a:lnTo>
                  <a:pt x="1905" y="2179954"/>
                </a:lnTo>
              </a:path>
              <a:path w="6076315" h="6386195">
                <a:moveTo>
                  <a:pt x="6075045" y="2794635"/>
                </a:moveTo>
                <a:lnTo>
                  <a:pt x="6075045" y="3211195"/>
                </a:lnTo>
              </a:path>
              <a:path w="6076315" h="6386195">
                <a:moveTo>
                  <a:pt x="1905" y="3211195"/>
                </a:moveTo>
                <a:lnTo>
                  <a:pt x="1905" y="2794635"/>
                </a:lnTo>
              </a:path>
              <a:path w="6076315" h="6386195">
                <a:moveTo>
                  <a:pt x="6075045" y="3084195"/>
                </a:moveTo>
                <a:lnTo>
                  <a:pt x="6075045" y="3663315"/>
                </a:lnTo>
              </a:path>
              <a:path w="6076315" h="6386195">
                <a:moveTo>
                  <a:pt x="1905" y="3663315"/>
                </a:moveTo>
                <a:lnTo>
                  <a:pt x="1905" y="3084195"/>
                </a:lnTo>
              </a:path>
              <a:path w="6076315" h="6386195">
                <a:moveTo>
                  <a:pt x="6075045" y="3536315"/>
                </a:moveTo>
                <a:lnTo>
                  <a:pt x="6075045" y="4603115"/>
                </a:lnTo>
              </a:path>
              <a:path w="6076315" h="6386195">
                <a:moveTo>
                  <a:pt x="1905" y="4603115"/>
                </a:moveTo>
                <a:lnTo>
                  <a:pt x="1905" y="3536315"/>
                </a:lnTo>
              </a:path>
              <a:path w="6076315" h="6386195">
                <a:moveTo>
                  <a:pt x="6075045" y="4476115"/>
                </a:moveTo>
                <a:lnTo>
                  <a:pt x="6075045" y="4892675"/>
                </a:lnTo>
              </a:path>
              <a:path w="6076315" h="6386195">
                <a:moveTo>
                  <a:pt x="1905" y="4892675"/>
                </a:moveTo>
                <a:lnTo>
                  <a:pt x="1905" y="4476115"/>
                </a:lnTo>
              </a:path>
              <a:path w="6076315" h="6386195">
                <a:moveTo>
                  <a:pt x="6075045" y="4765675"/>
                </a:moveTo>
                <a:lnTo>
                  <a:pt x="6075045" y="5344795"/>
                </a:lnTo>
              </a:path>
              <a:path w="6076315" h="6386195">
                <a:moveTo>
                  <a:pt x="1905" y="5344795"/>
                </a:moveTo>
                <a:lnTo>
                  <a:pt x="1905" y="4765675"/>
                </a:lnTo>
              </a:path>
              <a:path w="6076315" h="6386195">
                <a:moveTo>
                  <a:pt x="6075045" y="5217795"/>
                </a:moveTo>
                <a:lnTo>
                  <a:pt x="6075045" y="6386195"/>
                </a:lnTo>
              </a:path>
              <a:path w="6076315" h="6386195">
                <a:moveTo>
                  <a:pt x="6076315" y="6384925"/>
                </a:moveTo>
                <a:lnTo>
                  <a:pt x="0" y="6384925"/>
                </a:lnTo>
              </a:path>
              <a:path w="6076315" h="6386195">
                <a:moveTo>
                  <a:pt x="1905" y="6386195"/>
                </a:moveTo>
                <a:lnTo>
                  <a:pt x="1905" y="5217795"/>
                </a:lnTo>
              </a:path>
              <a:path w="6076315" h="6386195">
                <a:moveTo>
                  <a:pt x="0" y="1904"/>
                </a:moveTo>
                <a:lnTo>
                  <a:pt x="6076315" y="1904"/>
                </a:lnTo>
              </a:path>
              <a:path w="6076315" h="6386195">
                <a:moveTo>
                  <a:pt x="6075045" y="0"/>
                </a:moveTo>
                <a:lnTo>
                  <a:pt x="6075045" y="2306954"/>
                </a:lnTo>
              </a:path>
              <a:path w="6076315" h="6386195">
                <a:moveTo>
                  <a:pt x="1905" y="2306954"/>
                </a:moveTo>
                <a:lnTo>
                  <a:pt x="1905" y="0"/>
                </a:lnTo>
              </a:path>
              <a:path w="6076315" h="6386195">
                <a:moveTo>
                  <a:pt x="6075045" y="2179954"/>
                </a:moveTo>
                <a:lnTo>
                  <a:pt x="6075045" y="2921635"/>
                </a:lnTo>
              </a:path>
              <a:path w="6076315" h="6386195">
                <a:moveTo>
                  <a:pt x="1905" y="2921635"/>
                </a:moveTo>
                <a:lnTo>
                  <a:pt x="1905" y="2179954"/>
                </a:lnTo>
              </a:path>
              <a:path w="6076315" h="6386195">
                <a:moveTo>
                  <a:pt x="6075045" y="2794635"/>
                </a:moveTo>
                <a:lnTo>
                  <a:pt x="6075045" y="3211195"/>
                </a:lnTo>
              </a:path>
              <a:path w="6076315" h="6386195">
                <a:moveTo>
                  <a:pt x="1905" y="3211195"/>
                </a:moveTo>
                <a:lnTo>
                  <a:pt x="1905" y="2794635"/>
                </a:lnTo>
              </a:path>
              <a:path w="6076315" h="6386195">
                <a:moveTo>
                  <a:pt x="6075045" y="3084195"/>
                </a:moveTo>
                <a:lnTo>
                  <a:pt x="6075045" y="3663315"/>
                </a:lnTo>
              </a:path>
              <a:path w="6076315" h="6386195">
                <a:moveTo>
                  <a:pt x="1905" y="3663315"/>
                </a:moveTo>
                <a:lnTo>
                  <a:pt x="1905" y="3084195"/>
                </a:lnTo>
              </a:path>
              <a:path w="6076315" h="6386195">
                <a:moveTo>
                  <a:pt x="6075045" y="3536315"/>
                </a:moveTo>
                <a:lnTo>
                  <a:pt x="6075045" y="4603115"/>
                </a:lnTo>
              </a:path>
              <a:path w="6076315" h="6386195">
                <a:moveTo>
                  <a:pt x="1905" y="4603115"/>
                </a:moveTo>
                <a:lnTo>
                  <a:pt x="1905" y="3536315"/>
                </a:lnTo>
              </a:path>
              <a:path w="6076315" h="6386195">
                <a:moveTo>
                  <a:pt x="6075045" y="4476115"/>
                </a:moveTo>
                <a:lnTo>
                  <a:pt x="6075045" y="4892675"/>
                </a:lnTo>
              </a:path>
              <a:path w="6076315" h="6386195">
                <a:moveTo>
                  <a:pt x="1905" y="4892675"/>
                </a:moveTo>
                <a:lnTo>
                  <a:pt x="1905" y="4476115"/>
                </a:lnTo>
              </a:path>
              <a:path w="6076315" h="6386195">
                <a:moveTo>
                  <a:pt x="6075045" y="4765675"/>
                </a:moveTo>
                <a:lnTo>
                  <a:pt x="6075045" y="5344795"/>
                </a:lnTo>
              </a:path>
              <a:path w="6076315" h="6386195">
                <a:moveTo>
                  <a:pt x="1905" y="5344795"/>
                </a:moveTo>
                <a:lnTo>
                  <a:pt x="1905" y="4765675"/>
                </a:lnTo>
              </a:path>
              <a:path w="6076315" h="6386195">
                <a:moveTo>
                  <a:pt x="6075045" y="5217795"/>
                </a:moveTo>
                <a:lnTo>
                  <a:pt x="6075045" y="6386195"/>
                </a:lnTo>
              </a:path>
              <a:path w="6076315" h="6386195">
                <a:moveTo>
                  <a:pt x="6076315" y="6384925"/>
                </a:moveTo>
                <a:lnTo>
                  <a:pt x="0" y="6384925"/>
                </a:lnTo>
              </a:path>
              <a:path w="6076315" h="6386195">
                <a:moveTo>
                  <a:pt x="1905" y="6386195"/>
                </a:moveTo>
                <a:lnTo>
                  <a:pt x="1905" y="521779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297" y="1006748"/>
            <a:ext cx="5364981" cy="39986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50264" y="5215254"/>
            <a:ext cx="6073140" cy="110490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wrap="square" lIns="0" tIns="63500" rIns="0" bIns="0" rtlCol="0" vert="horz">
            <a:spAutoFit/>
          </a:bodyPr>
          <a:lstStyle/>
          <a:p>
            <a:pPr marL="64769" marR="1203325">
              <a:lnSpc>
                <a:spcPts val="1280"/>
              </a:lnSpc>
              <a:spcBef>
                <a:spcPts val="50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plt.scatter(x_test,y_test,color=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'red'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plt.plot(x_train,regressor.predict(x_train),color=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'blue'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plt.title(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"Salary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vs</a:t>
            </a:r>
            <a:r>
              <a:rPr dirty="0" sz="1100" spc="-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Experience(Testing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set)"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plt.xlabel(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"Years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dirty="0" sz="1100" spc="-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Experience"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4148454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plt.ylabel(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"Salaries"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plt.show()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5212715"/>
            <a:ext cx="6076950" cy="280670"/>
          </a:xfrm>
          <a:custGeom>
            <a:avLst/>
            <a:gdLst/>
            <a:ahLst/>
            <a:cxnLst/>
            <a:rect l="l" t="t" r="r" b="b"/>
            <a:pathLst>
              <a:path w="6076950" h="280670">
                <a:moveTo>
                  <a:pt x="6076950" y="0"/>
                </a:moveTo>
                <a:lnTo>
                  <a:pt x="0" y="0"/>
                </a:lnTo>
                <a:lnTo>
                  <a:pt x="0" y="280670"/>
                </a:lnTo>
                <a:lnTo>
                  <a:pt x="6076950" y="28067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829" y="988278"/>
            <a:ext cx="5392683" cy="40633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48360" y="5213350"/>
            <a:ext cx="6076315" cy="280035"/>
          </a:xfrm>
          <a:custGeom>
            <a:avLst/>
            <a:gdLst/>
            <a:ahLst/>
            <a:cxnLst/>
            <a:rect l="l" t="t" r="r" b="b"/>
            <a:pathLst>
              <a:path w="6076315" h="280035">
                <a:moveTo>
                  <a:pt x="0" y="1904"/>
                </a:moveTo>
                <a:lnTo>
                  <a:pt x="6076315" y="1904"/>
                </a:lnTo>
              </a:path>
              <a:path w="6076315" h="280035">
                <a:moveTo>
                  <a:pt x="6075045" y="0"/>
                </a:moveTo>
                <a:lnTo>
                  <a:pt x="6075045" y="280035"/>
                </a:lnTo>
              </a:path>
              <a:path w="6076315" h="280035">
                <a:moveTo>
                  <a:pt x="6076315" y="278764"/>
                </a:moveTo>
                <a:lnTo>
                  <a:pt x="0" y="278764"/>
                </a:lnTo>
              </a:path>
              <a:path w="6076315" h="280035">
                <a:moveTo>
                  <a:pt x="1905" y="280035"/>
                </a:moveTo>
                <a:lnTo>
                  <a:pt x="1905" y="0"/>
                </a:lnTo>
              </a:path>
              <a:path w="6076315" h="280035">
                <a:moveTo>
                  <a:pt x="0" y="1904"/>
                </a:moveTo>
                <a:lnTo>
                  <a:pt x="6076315" y="1904"/>
                </a:lnTo>
              </a:path>
              <a:path w="6076315" h="280035">
                <a:moveTo>
                  <a:pt x="6075045" y="0"/>
                </a:moveTo>
                <a:lnTo>
                  <a:pt x="6075045" y="280035"/>
                </a:lnTo>
              </a:path>
              <a:path w="6076315" h="280035">
                <a:moveTo>
                  <a:pt x="6076315" y="278764"/>
                </a:moveTo>
                <a:lnTo>
                  <a:pt x="0" y="278764"/>
                </a:lnTo>
              </a:path>
              <a:path w="6076315" h="280035">
                <a:moveTo>
                  <a:pt x="1905" y="28003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74990"/>
          </a:xfrm>
          <a:custGeom>
            <a:avLst/>
            <a:gdLst/>
            <a:ahLst/>
            <a:cxnLst/>
            <a:rect l="l" t="t" r="r" b="b"/>
            <a:pathLst>
              <a:path w="6076950" h="8174990">
                <a:moveTo>
                  <a:pt x="6076950" y="0"/>
                </a:moveTo>
                <a:lnTo>
                  <a:pt x="0" y="0"/>
                </a:lnTo>
                <a:lnTo>
                  <a:pt x="0" y="716915"/>
                </a:lnTo>
                <a:lnTo>
                  <a:pt x="0" y="717550"/>
                </a:lnTo>
                <a:lnTo>
                  <a:pt x="0" y="8174990"/>
                </a:lnTo>
                <a:lnTo>
                  <a:pt x="6076950" y="8174990"/>
                </a:lnTo>
                <a:lnTo>
                  <a:pt x="6076950" y="71691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4234180" cy="2072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pandas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12700" marR="160528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8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collections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7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Counter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math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pprint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pprint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96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data={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80"/>
              </a:lnSpc>
            </a:pP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'Outlook'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'Sunny'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'Sunny'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'Overcast'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'Rain'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80"/>
              </a:lnSpc>
            </a:pP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'Humidity'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'High'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'Normal'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'High'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'Normal'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80"/>
              </a:lnSpc>
            </a:pP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'PlayTennis'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'No'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'Yes'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'Yes'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'Yes'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12700" marR="2446655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df=pd.DataFrame(data)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df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3150870"/>
          <a:ext cx="2693670" cy="81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545"/>
                <a:gridCol w="798830"/>
                <a:gridCol w="756919"/>
                <a:gridCol w="892175"/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Outlook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Humidity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PlayTennis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 marR="7493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Sunny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High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marR="7493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Sunny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Normal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Yes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marR="7493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Overcast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High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Yes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 marR="7493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Rain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Normal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Yes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969" y="4067175"/>
            <a:ext cx="5913755" cy="4963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entropy(probs):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30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(-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prob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*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math.log(prob,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prob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probs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prob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&gt;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348615" marR="3452495" indent="-336550">
              <a:lnSpc>
                <a:spcPts val="1280"/>
              </a:lnSpc>
              <a:spcBef>
                <a:spcPts val="103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entropy_of_list(a_list): cnt=Counter(a_list) num_instances=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(a_list)</a:t>
            </a:r>
            <a:endParaRPr sz="1100">
              <a:latin typeface="Courier New"/>
              <a:cs typeface="Courier New"/>
            </a:endParaRPr>
          </a:p>
          <a:p>
            <a:pPr marL="349250" marR="1769110" indent="-63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probs=[x/num_instances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x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cnt.values()]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entropy(probs)</a:t>
            </a:r>
            <a:endParaRPr sz="1100">
              <a:latin typeface="Courier New"/>
              <a:cs typeface="Courier New"/>
            </a:endParaRPr>
          </a:p>
          <a:p>
            <a:pPr marL="348615" marR="5715" indent="-336550">
              <a:lnSpc>
                <a:spcPts val="1280"/>
              </a:lnSpc>
              <a:spcBef>
                <a:spcPts val="100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information_gain(df,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split_attribute_name,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target_attribute_name):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df_split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df.groupby(split_attribute_name)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2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nobs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(df.index)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*</a:t>
            </a:r>
            <a:r>
              <a:rPr dirty="0" sz="1100" spc="-4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A95C00"/>
                </a:solidFill>
                <a:latin typeface="Courier New"/>
                <a:cs typeface="Courier New"/>
              </a:rPr>
              <a:t>1.0</a:t>
            </a:r>
            <a:endParaRPr sz="1100">
              <a:latin typeface="Courier New"/>
              <a:cs typeface="Courier New"/>
            </a:endParaRPr>
          </a:p>
          <a:p>
            <a:pPr marL="12700" marR="5080" indent="335915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df_agg_ent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df_split[target_attribute_name].agg([entropy_of_list,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lambda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x: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(x)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/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nobs])</a:t>
            </a:r>
            <a:endParaRPr sz="1100">
              <a:latin typeface="Courier New"/>
              <a:cs typeface="Courier New"/>
            </a:endParaRPr>
          </a:p>
          <a:p>
            <a:pPr marL="12700" marR="1684655" indent="335915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avg_info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(df_agg_ent[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'entropy_of_list'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*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df_agg_ent[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'&lt;lambda_0&gt;'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])</a:t>
            </a:r>
            <a:endParaRPr sz="1100">
              <a:latin typeface="Courier New"/>
              <a:cs typeface="Courier New"/>
            </a:endParaRPr>
          </a:p>
          <a:p>
            <a:pPr marL="349250" marR="845819" indent="-635">
              <a:lnSpc>
                <a:spcPts val="1280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old_entropy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entropy_of_list(df[target_attribute_name])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old_entropy</a:t>
            </a:r>
            <a:r>
              <a:rPr dirty="0" sz="1100" spc="-6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-</a:t>
            </a:r>
            <a:r>
              <a:rPr dirty="0" sz="1100" spc="-6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avg_info</a:t>
            </a:r>
            <a:endParaRPr sz="1100">
              <a:latin typeface="Courier New"/>
              <a:cs typeface="Courier New"/>
            </a:endParaRPr>
          </a:p>
          <a:p>
            <a:pPr marL="12700" marR="255270">
              <a:lnSpc>
                <a:spcPts val="1280"/>
              </a:lnSpc>
              <a:spcBef>
                <a:spcPts val="1000"/>
              </a:spcBef>
            </a:pP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def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id3DT(df,target_attribute_name,attribute_names,default_class=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None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):</a:t>
            </a:r>
            <a:endParaRPr sz="1100">
              <a:latin typeface="Courier New"/>
              <a:cs typeface="Courier New"/>
            </a:endParaRPr>
          </a:p>
          <a:p>
            <a:pPr marL="349250" marR="2359660" indent="-63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cnt=Counter(df[target_attribute_name])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1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len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(cnt)==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22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next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iter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(cnt))</a:t>
            </a:r>
            <a:endParaRPr sz="1100">
              <a:latin typeface="Courier New"/>
              <a:cs typeface="Courier New"/>
            </a:endParaRPr>
          </a:p>
          <a:p>
            <a:pPr marL="685800" marR="2443480" indent="-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elif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df.empty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or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not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attribute_names: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default_class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25"/>
              </a:lnSpc>
            </a:pPr>
            <a:r>
              <a:rPr dirty="0" sz="1100" spc="-10">
                <a:solidFill>
                  <a:srgbClr val="7827A0"/>
                </a:solidFill>
                <a:latin typeface="Courier New"/>
                <a:cs typeface="Courier New"/>
              </a:rPr>
              <a:t>else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685165" marR="339090">
              <a:lnSpc>
                <a:spcPts val="1280"/>
              </a:lnSpc>
              <a:spcBef>
                <a:spcPts val="6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default_class=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max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(cnt,key=cnt.get) gainz=[information_gain(df,attr,target_attribute_name)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attr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attribute_names]</a:t>
            </a:r>
            <a:endParaRPr sz="1100">
              <a:latin typeface="Courier New"/>
              <a:cs typeface="Courier New"/>
            </a:endParaRPr>
          </a:p>
          <a:p>
            <a:pPr marL="685165">
              <a:lnSpc>
                <a:spcPts val="130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index_of_max=gainz.index(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max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(gainz))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174355"/>
          </a:xfrm>
          <a:custGeom>
            <a:avLst/>
            <a:gdLst/>
            <a:ahLst/>
            <a:cxnLst/>
            <a:rect l="l" t="t" r="r" b="b"/>
            <a:pathLst>
              <a:path w="6076315" h="8174355">
                <a:moveTo>
                  <a:pt x="0" y="1904"/>
                </a:moveTo>
                <a:lnTo>
                  <a:pt x="6076315" y="1904"/>
                </a:lnTo>
              </a:path>
              <a:path w="6076315" h="8174355">
                <a:moveTo>
                  <a:pt x="6075045" y="0"/>
                </a:moveTo>
                <a:lnTo>
                  <a:pt x="6075045" y="843915"/>
                </a:lnTo>
              </a:path>
              <a:path w="6076315" h="8174355">
                <a:moveTo>
                  <a:pt x="1905" y="843915"/>
                </a:moveTo>
                <a:lnTo>
                  <a:pt x="1905" y="0"/>
                </a:lnTo>
              </a:path>
              <a:path w="6076315" h="8174355">
                <a:moveTo>
                  <a:pt x="6075045" y="716915"/>
                </a:moveTo>
                <a:lnTo>
                  <a:pt x="6075045" y="1783715"/>
                </a:lnTo>
              </a:path>
              <a:path w="6076315" h="8174355">
                <a:moveTo>
                  <a:pt x="1905" y="1783715"/>
                </a:moveTo>
                <a:lnTo>
                  <a:pt x="1905" y="716915"/>
                </a:lnTo>
              </a:path>
              <a:path w="6076315" h="8174355">
                <a:moveTo>
                  <a:pt x="6075045" y="1656715"/>
                </a:moveTo>
                <a:lnTo>
                  <a:pt x="6075045" y="2235834"/>
                </a:lnTo>
              </a:path>
              <a:path w="6076315" h="8174355">
                <a:moveTo>
                  <a:pt x="1905" y="2235834"/>
                </a:moveTo>
                <a:lnTo>
                  <a:pt x="1905" y="1656715"/>
                </a:lnTo>
              </a:path>
              <a:path w="6076315" h="8174355">
                <a:moveTo>
                  <a:pt x="6075045" y="2108834"/>
                </a:moveTo>
                <a:lnTo>
                  <a:pt x="6075045" y="3175635"/>
                </a:lnTo>
              </a:path>
              <a:path w="6076315" h="8174355">
                <a:moveTo>
                  <a:pt x="1905" y="3175635"/>
                </a:moveTo>
                <a:lnTo>
                  <a:pt x="1905" y="2108834"/>
                </a:lnTo>
              </a:path>
              <a:path w="6076315" h="8174355">
                <a:moveTo>
                  <a:pt x="6075045" y="3048635"/>
                </a:moveTo>
                <a:lnTo>
                  <a:pt x="6075045" y="3627754"/>
                </a:lnTo>
              </a:path>
              <a:path w="6076315" h="8174355">
                <a:moveTo>
                  <a:pt x="1905" y="3627754"/>
                </a:moveTo>
                <a:lnTo>
                  <a:pt x="1905" y="3048635"/>
                </a:lnTo>
              </a:path>
              <a:path w="6076315" h="8174355">
                <a:moveTo>
                  <a:pt x="6075045" y="3500754"/>
                </a:moveTo>
                <a:lnTo>
                  <a:pt x="6075045" y="4567555"/>
                </a:lnTo>
              </a:path>
              <a:path w="6076315" h="8174355">
                <a:moveTo>
                  <a:pt x="1905" y="4567555"/>
                </a:moveTo>
                <a:lnTo>
                  <a:pt x="1905" y="3500754"/>
                </a:lnTo>
              </a:path>
              <a:path w="6076315" h="8174355">
                <a:moveTo>
                  <a:pt x="6075045" y="4440555"/>
                </a:moveTo>
                <a:lnTo>
                  <a:pt x="6075045" y="6157595"/>
                </a:lnTo>
              </a:path>
              <a:path w="6076315" h="8174355">
                <a:moveTo>
                  <a:pt x="1905" y="6157595"/>
                </a:moveTo>
                <a:lnTo>
                  <a:pt x="1905" y="4440555"/>
                </a:lnTo>
              </a:path>
              <a:path w="6076315" h="8174355">
                <a:moveTo>
                  <a:pt x="6075045" y="6030595"/>
                </a:moveTo>
                <a:lnTo>
                  <a:pt x="6075045" y="8174355"/>
                </a:lnTo>
              </a:path>
              <a:path w="6076315" h="8174355">
                <a:moveTo>
                  <a:pt x="6076315" y="8173084"/>
                </a:moveTo>
                <a:lnTo>
                  <a:pt x="0" y="8173084"/>
                </a:lnTo>
              </a:path>
              <a:path w="6076315" h="8174355">
                <a:moveTo>
                  <a:pt x="1905" y="8174355"/>
                </a:moveTo>
                <a:lnTo>
                  <a:pt x="1905" y="6030595"/>
                </a:lnTo>
              </a:path>
              <a:path w="6076315" h="8174355">
                <a:moveTo>
                  <a:pt x="0" y="1904"/>
                </a:moveTo>
                <a:lnTo>
                  <a:pt x="6076315" y="1904"/>
                </a:lnTo>
              </a:path>
              <a:path w="6076315" h="8174355">
                <a:moveTo>
                  <a:pt x="6075045" y="0"/>
                </a:moveTo>
                <a:lnTo>
                  <a:pt x="6075045" y="843915"/>
                </a:lnTo>
              </a:path>
              <a:path w="6076315" h="8174355">
                <a:moveTo>
                  <a:pt x="1905" y="843915"/>
                </a:moveTo>
                <a:lnTo>
                  <a:pt x="1905" y="0"/>
                </a:lnTo>
              </a:path>
              <a:path w="6076315" h="8174355">
                <a:moveTo>
                  <a:pt x="6075045" y="716915"/>
                </a:moveTo>
                <a:lnTo>
                  <a:pt x="6075045" y="1783715"/>
                </a:lnTo>
              </a:path>
              <a:path w="6076315" h="8174355">
                <a:moveTo>
                  <a:pt x="1905" y="1783715"/>
                </a:moveTo>
                <a:lnTo>
                  <a:pt x="1905" y="716915"/>
                </a:lnTo>
              </a:path>
              <a:path w="6076315" h="8174355">
                <a:moveTo>
                  <a:pt x="6075045" y="1656715"/>
                </a:moveTo>
                <a:lnTo>
                  <a:pt x="6075045" y="2235834"/>
                </a:lnTo>
              </a:path>
              <a:path w="6076315" h="8174355">
                <a:moveTo>
                  <a:pt x="1905" y="2235834"/>
                </a:moveTo>
                <a:lnTo>
                  <a:pt x="1905" y="1656715"/>
                </a:lnTo>
              </a:path>
              <a:path w="6076315" h="8174355">
                <a:moveTo>
                  <a:pt x="6075045" y="2108834"/>
                </a:moveTo>
                <a:lnTo>
                  <a:pt x="6075045" y="3175635"/>
                </a:lnTo>
              </a:path>
              <a:path w="6076315" h="8174355">
                <a:moveTo>
                  <a:pt x="1905" y="3175635"/>
                </a:moveTo>
                <a:lnTo>
                  <a:pt x="1905" y="2108834"/>
                </a:lnTo>
              </a:path>
              <a:path w="6076315" h="8174355">
                <a:moveTo>
                  <a:pt x="6075045" y="3048635"/>
                </a:moveTo>
                <a:lnTo>
                  <a:pt x="6075045" y="3627754"/>
                </a:lnTo>
              </a:path>
              <a:path w="6076315" h="8174355">
                <a:moveTo>
                  <a:pt x="1905" y="3627754"/>
                </a:moveTo>
                <a:lnTo>
                  <a:pt x="1905" y="3048635"/>
                </a:lnTo>
              </a:path>
              <a:path w="6076315" h="8174355">
                <a:moveTo>
                  <a:pt x="6075045" y="3500754"/>
                </a:moveTo>
                <a:lnTo>
                  <a:pt x="6075045" y="4567555"/>
                </a:lnTo>
              </a:path>
              <a:path w="6076315" h="8174355">
                <a:moveTo>
                  <a:pt x="1905" y="4567555"/>
                </a:moveTo>
                <a:lnTo>
                  <a:pt x="1905" y="3500754"/>
                </a:lnTo>
              </a:path>
              <a:path w="6076315" h="8174355">
                <a:moveTo>
                  <a:pt x="6075045" y="4440555"/>
                </a:moveTo>
                <a:lnTo>
                  <a:pt x="6075045" y="6157595"/>
                </a:lnTo>
              </a:path>
              <a:path w="6076315" h="8174355">
                <a:moveTo>
                  <a:pt x="1905" y="6157595"/>
                </a:moveTo>
                <a:lnTo>
                  <a:pt x="1905" y="4440555"/>
                </a:lnTo>
              </a:path>
              <a:path w="6076315" h="8174355">
                <a:moveTo>
                  <a:pt x="6075045" y="6030595"/>
                </a:moveTo>
                <a:lnTo>
                  <a:pt x="6075045" y="8174355"/>
                </a:lnTo>
              </a:path>
              <a:path w="6076315" h="8174355">
                <a:moveTo>
                  <a:pt x="6076315" y="8173084"/>
                </a:moveTo>
                <a:lnTo>
                  <a:pt x="0" y="8173084"/>
                </a:lnTo>
              </a:path>
              <a:path w="6076315" h="8174355">
                <a:moveTo>
                  <a:pt x="1905" y="8174355"/>
                </a:moveTo>
                <a:lnTo>
                  <a:pt x="1905" y="603059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4330700"/>
          </a:xfrm>
          <a:custGeom>
            <a:avLst/>
            <a:gdLst/>
            <a:ahLst/>
            <a:cxnLst/>
            <a:rect l="l" t="t" r="r" b="b"/>
            <a:pathLst>
              <a:path w="6076950" h="4330700">
                <a:moveTo>
                  <a:pt x="6076950" y="0"/>
                </a:moveTo>
                <a:lnTo>
                  <a:pt x="0" y="0"/>
                </a:lnTo>
                <a:lnTo>
                  <a:pt x="0" y="1692275"/>
                </a:lnTo>
                <a:lnTo>
                  <a:pt x="0" y="1692910"/>
                </a:lnTo>
                <a:lnTo>
                  <a:pt x="0" y="4330700"/>
                </a:lnTo>
                <a:lnTo>
                  <a:pt x="6076950" y="4330700"/>
                </a:lnTo>
                <a:lnTo>
                  <a:pt x="6076950" y="169227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5912485" cy="227076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685165" marR="1938020">
              <a:lnSpc>
                <a:spcPts val="1280"/>
              </a:lnSpc>
              <a:spcBef>
                <a:spcPts val="17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best_attr=attribute_names[index_of_max] tree={best_attr:{}}</a:t>
            </a:r>
            <a:endParaRPr sz="1100">
              <a:latin typeface="Courier New"/>
              <a:cs typeface="Courier New"/>
            </a:endParaRPr>
          </a:p>
          <a:p>
            <a:pPr marL="685165">
              <a:lnSpc>
                <a:spcPts val="122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remaining_attributes=[i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attribute_names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i!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=best_attr]</a:t>
            </a:r>
            <a:endParaRPr sz="1100">
              <a:latin typeface="Courier New"/>
              <a:cs typeface="Courier New"/>
            </a:endParaRPr>
          </a:p>
          <a:p>
            <a:pPr marL="1021715" marR="927735" indent="-33655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attr_val,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data_subset</a:t>
            </a:r>
            <a:r>
              <a:rPr dirty="0" sz="1100" spc="-5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7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df.groupby(best_attr): subtree=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id3DT(data_subset,target_attribute_name,remaining_attributes,default_c lass)</a:t>
            </a:r>
            <a:endParaRPr sz="1100">
              <a:latin typeface="Courier New"/>
              <a:cs typeface="Courier New"/>
            </a:endParaRPr>
          </a:p>
          <a:p>
            <a:pPr marL="685800" marR="2105025" indent="3359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tree[best_attr][attr_val]=subtree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6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tree</a:t>
            </a:r>
            <a:endParaRPr sz="1100">
              <a:latin typeface="Courier New"/>
              <a:cs typeface="Courier New"/>
            </a:endParaRPr>
          </a:p>
          <a:p>
            <a:pPr marL="12700" marR="2862580">
              <a:lnSpc>
                <a:spcPts val="1280"/>
              </a:lnSpc>
              <a:spcBef>
                <a:spcPts val="100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attribute_names=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list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(df.columns) attribute_names.remove(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'PlayTennis'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attribute_names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3348990"/>
            <a:ext cx="194754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['Outlook',</a:t>
            </a:r>
            <a:r>
              <a:rPr dirty="0" sz="1100" spc="-12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'Humidity']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3615054"/>
            <a:ext cx="3643629" cy="518159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tree=id3DT(df,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'PlayTennis'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,attribute_names)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"The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Resultant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Decision</a:t>
            </a:r>
            <a:r>
              <a:rPr dirty="0" sz="1100" spc="-8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Tree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is:"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pprint(tree)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4253229"/>
            <a:ext cx="262064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The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Resultant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Decision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Tree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is: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4415052"/>
            <a:ext cx="2620645" cy="16383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{'Outlook':</a:t>
            </a:r>
            <a:r>
              <a:rPr dirty="0" sz="1100" spc="-13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{'Overcast':</a:t>
            </a:r>
            <a:r>
              <a:rPr dirty="0" sz="1100" spc="-13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'Yes',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4578350"/>
            <a:ext cx="228409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109410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'Rain':</a:t>
            </a:r>
            <a:r>
              <a:rPr dirty="0" sz="1100" spc="-8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'Yes',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4740909"/>
            <a:ext cx="5805805" cy="161925"/>
          </a:xfrm>
          <a:custGeom>
            <a:avLst/>
            <a:gdLst/>
            <a:ahLst/>
            <a:cxnLst/>
            <a:rect l="l" t="t" r="r" b="b"/>
            <a:pathLst>
              <a:path w="5805805" h="161925">
                <a:moveTo>
                  <a:pt x="5805805" y="0"/>
                </a:moveTo>
                <a:lnTo>
                  <a:pt x="0" y="0"/>
                </a:lnTo>
                <a:lnTo>
                  <a:pt x="0" y="161925"/>
                </a:lnTo>
                <a:lnTo>
                  <a:pt x="5805805" y="161925"/>
                </a:lnTo>
                <a:lnTo>
                  <a:pt x="58058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996262" y="4717415"/>
            <a:ext cx="47351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ourier New"/>
                <a:cs typeface="Courier New"/>
              </a:rPr>
              <a:t>'Sunny':</a:t>
            </a:r>
            <a:r>
              <a:rPr dirty="0" sz="1100" spc="-9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{'Humidity':</a:t>
            </a:r>
            <a:r>
              <a:rPr dirty="0" sz="1100" spc="-9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{'High':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'No',</a:t>
            </a:r>
            <a:r>
              <a:rPr dirty="0" sz="1100" spc="-9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'Normal':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'Yes'}}}}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8360" y="914400"/>
            <a:ext cx="6076315" cy="4330065"/>
          </a:xfrm>
          <a:custGeom>
            <a:avLst/>
            <a:gdLst/>
            <a:ahLst/>
            <a:cxnLst/>
            <a:rect l="l" t="t" r="r" b="b"/>
            <a:pathLst>
              <a:path w="6076315" h="4330065">
                <a:moveTo>
                  <a:pt x="0" y="1904"/>
                </a:moveTo>
                <a:lnTo>
                  <a:pt x="6076315" y="1904"/>
                </a:lnTo>
              </a:path>
              <a:path w="6076315" h="4330065">
                <a:moveTo>
                  <a:pt x="6075045" y="0"/>
                </a:moveTo>
                <a:lnTo>
                  <a:pt x="6075045" y="1819275"/>
                </a:lnTo>
              </a:path>
              <a:path w="6076315" h="4330065">
                <a:moveTo>
                  <a:pt x="1905" y="1819275"/>
                </a:moveTo>
                <a:lnTo>
                  <a:pt x="1905" y="0"/>
                </a:lnTo>
              </a:path>
              <a:path w="6076315" h="4330065">
                <a:moveTo>
                  <a:pt x="6075045" y="1692275"/>
                </a:moveTo>
                <a:lnTo>
                  <a:pt x="6075045" y="2433954"/>
                </a:lnTo>
              </a:path>
              <a:path w="6076315" h="4330065">
                <a:moveTo>
                  <a:pt x="1905" y="2433954"/>
                </a:moveTo>
                <a:lnTo>
                  <a:pt x="1905" y="1692275"/>
                </a:lnTo>
              </a:path>
              <a:path w="6076315" h="4330065">
                <a:moveTo>
                  <a:pt x="6075045" y="2306954"/>
                </a:moveTo>
                <a:lnTo>
                  <a:pt x="6075045" y="2723515"/>
                </a:lnTo>
              </a:path>
              <a:path w="6076315" h="4330065">
                <a:moveTo>
                  <a:pt x="1905" y="2723515"/>
                </a:moveTo>
                <a:lnTo>
                  <a:pt x="1905" y="2306954"/>
                </a:lnTo>
              </a:path>
              <a:path w="6076315" h="4330065">
                <a:moveTo>
                  <a:pt x="6075045" y="2596515"/>
                </a:moveTo>
                <a:lnTo>
                  <a:pt x="6075045" y="3338195"/>
                </a:lnTo>
              </a:path>
              <a:path w="6076315" h="4330065">
                <a:moveTo>
                  <a:pt x="1905" y="3338195"/>
                </a:moveTo>
                <a:lnTo>
                  <a:pt x="1905" y="2596515"/>
                </a:lnTo>
              </a:path>
              <a:path w="6076315" h="4330065">
                <a:moveTo>
                  <a:pt x="6075045" y="3211195"/>
                </a:moveTo>
                <a:lnTo>
                  <a:pt x="6075045" y="4115435"/>
                </a:lnTo>
              </a:path>
              <a:path w="6076315" h="4330065">
                <a:moveTo>
                  <a:pt x="1905" y="4115435"/>
                </a:moveTo>
                <a:lnTo>
                  <a:pt x="1905" y="3211195"/>
                </a:lnTo>
              </a:path>
              <a:path w="6076315" h="4330065">
                <a:moveTo>
                  <a:pt x="6075045" y="3988435"/>
                </a:moveTo>
                <a:lnTo>
                  <a:pt x="6075045" y="4330065"/>
                </a:lnTo>
              </a:path>
              <a:path w="6076315" h="4330065">
                <a:moveTo>
                  <a:pt x="6076315" y="4328795"/>
                </a:moveTo>
                <a:lnTo>
                  <a:pt x="0" y="4328795"/>
                </a:lnTo>
              </a:path>
              <a:path w="6076315" h="4330065">
                <a:moveTo>
                  <a:pt x="1905" y="4330065"/>
                </a:moveTo>
                <a:lnTo>
                  <a:pt x="1905" y="3988435"/>
                </a:lnTo>
              </a:path>
              <a:path w="6076315" h="4330065">
                <a:moveTo>
                  <a:pt x="0" y="1904"/>
                </a:moveTo>
                <a:lnTo>
                  <a:pt x="6076315" y="1904"/>
                </a:lnTo>
              </a:path>
              <a:path w="6076315" h="4330065">
                <a:moveTo>
                  <a:pt x="6075045" y="0"/>
                </a:moveTo>
                <a:lnTo>
                  <a:pt x="6075045" y="1819275"/>
                </a:lnTo>
              </a:path>
              <a:path w="6076315" h="4330065">
                <a:moveTo>
                  <a:pt x="1905" y="1819275"/>
                </a:moveTo>
                <a:lnTo>
                  <a:pt x="1905" y="0"/>
                </a:lnTo>
              </a:path>
              <a:path w="6076315" h="4330065">
                <a:moveTo>
                  <a:pt x="6075045" y="1692275"/>
                </a:moveTo>
                <a:lnTo>
                  <a:pt x="6075045" y="2433954"/>
                </a:lnTo>
              </a:path>
              <a:path w="6076315" h="4330065">
                <a:moveTo>
                  <a:pt x="1905" y="2433954"/>
                </a:moveTo>
                <a:lnTo>
                  <a:pt x="1905" y="1692275"/>
                </a:lnTo>
              </a:path>
              <a:path w="6076315" h="4330065">
                <a:moveTo>
                  <a:pt x="6075045" y="2306954"/>
                </a:moveTo>
                <a:lnTo>
                  <a:pt x="6075045" y="2723515"/>
                </a:lnTo>
              </a:path>
              <a:path w="6076315" h="4330065">
                <a:moveTo>
                  <a:pt x="1905" y="2723515"/>
                </a:moveTo>
                <a:lnTo>
                  <a:pt x="1905" y="2306954"/>
                </a:lnTo>
              </a:path>
              <a:path w="6076315" h="4330065">
                <a:moveTo>
                  <a:pt x="6075045" y="2596515"/>
                </a:moveTo>
                <a:lnTo>
                  <a:pt x="6075045" y="3338195"/>
                </a:lnTo>
              </a:path>
              <a:path w="6076315" h="4330065">
                <a:moveTo>
                  <a:pt x="1905" y="3338195"/>
                </a:moveTo>
                <a:lnTo>
                  <a:pt x="1905" y="2596515"/>
                </a:lnTo>
              </a:path>
              <a:path w="6076315" h="4330065">
                <a:moveTo>
                  <a:pt x="6075045" y="3211195"/>
                </a:moveTo>
                <a:lnTo>
                  <a:pt x="6075045" y="4115435"/>
                </a:lnTo>
              </a:path>
              <a:path w="6076315" h="4330065">
                <a:moveTo>
                  <a:pt x="1905" y="4115435"/>
                </a:moveTo>
                <a:lnTo>
                  <a:pt x="1905" y="3211195"/>
                </a:lnTo>
              </a:path>
              <a:path w="6076315" h="4330065">
                <a:moveTo>
                  <a:pt x="6075045" y="3988435"/>
                </a:moveTo>
                <a:lnTo>
                  <a:pt x="6075045" y="4330065"/>
                </a:lnTo>
              </a:path>
              <a:path w="6076315" h="4330065">
                <a:moveTo>
                  <a:pt x="6076315" y="4328795"/>
                </a:moveTo>
                <a:lnTo>
                  <a:pt x="0" y="4328795"/>
                </a:lnTo>
              </a:path>
              <a:path w="6076315" h="4330065">
                <a:moveTo>
                  <a:pt x="1905" y="4330065"/>
                </a:moveTo>
                <a:lnTo>
                  <a:pt x="1905" y="398843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210550"/>
            <a:chOff x="847725" y="913764"/>
            <a:chExt cx="6076950" cy="821055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210550"/>
            </a:xfrm>
            <a:custGeom>
              <a:avLst/>
              <a:gdLst/>
              <a:ahLst/>
              <a:cxnLst/>
              <a:rect l="l" t="t" r="r" b="b"/>
              <a:pathLst>
                <a:path w="6076950" h="8210550">
                  <a:moveTo>
                    <a:pt x="6076950" y="0"/>
                  </a:moveTo>
                  <a:lnTo>
                    <a:pt x="0" y="0"/>
                  </a:lnTo>
                  <a:lnTo>
                    <a:pt x="0" y="879475"/>
                  </a:lnTo>
                  <a:lnTo>
                    <a:pt x="0" y="880110"/>
                  </a:lnTo>
                  <a:lnTo>
                    <a:pt x="0" y="8210550"/>
                  </a:lnTo>
                  <a:lnTo>
                    <a:pt x="6076950" y="8210550"/>
                  </a:lnTo>
                  <a:lnTo>
                    <a:pt x="6076950" y="87947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2536189"/>
              <a:ext cx="5636895" cy="161925"/>
            </a:xfrm>
            <a:custGeom>
              <a:avLst/>
              <a:gdLst/>
              <a:ahLst/>
              <a:cxnLst/>
              <a:rect l="l" t="t" r="r" b="b"/>
              <a:pathLst>
                <a:path w="5636895" h="161925">
                  <a:moveTo>
                    <a:pt x="563689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636895" y="161925"/>
                  </a:lnTo>
                  <a:lnTo>
                    <a:pt x="563689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5660390" cy="174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pandas</a:t>
            </a:r>
            <a:r>
              <a:rPr dirty="0" sz="1100" spc="-5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sklearn.datasets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load_iris</a:t>
            </a:r>
            <a:endParaRPr sz="1100">
              <a:latin typeface="Courier New"/>
              <a:cs typeface="Courier New"/>
            </a:endParaRPr>
          </a:p>
          <a:p>
            <a:pPr marL="12700" marR="126492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sklearn.model_selection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train_test_split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sklearn.neighbors</a:t>
            </a:r>
            <a:r>
              <a:rPr dirty="0" sz="1100" spc="-3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4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KNeighborsClassifier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7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sklearn.metrics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7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confusion_matrix,</a:t>
            </a:r>
            <a:r>
              <a:rPr dirty="0" sz="1100" spc="-7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accuracy_score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96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iris=load_iris()</a:t>
            </a:r>
            <a:endParaRPr sz="1100">
              <a:latin typeface="Courier New"/>
              <a:cs typeface="Courier New"/>
            </a:endParaRPr>
          </a:p>
          <a:p>
            <a:pPr marL="12700" marR="235712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"Dataset</a:t>
            </a:r>
            <a:r>
              <a:rPr dirty="0" sz="1100" spc="-1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keys:"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,iris.keys())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"Target</a:t>
            </a:r>
            <a:r>
              <a:rPr dirty="0" sz="1100" spc="-14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array:</a:t>
            </a:r>
            <a:r>
              <a:rPr dirty="0" sz="1100" spc="-1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,iris[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'target'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latin typeface="Courier New"/>
                <a:cs typeface="Courier New"/>
              </a:rPr>
              <a:t>Dataset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keys: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dict_keys(['data',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'target',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'frame',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'target_names',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698750"/>
            <a:ext cx="445960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'DESCR',</a:t>
            </a:r>
            <a:r>
              <a:rPr dirty="0" sz="1100" spc="-8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'feature_names',</a:t>
            </a:r>
            <a:r>
              <a:rPr dirty="0" sz="1100" spc="-7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'filename',</a:t>
            </a:r>
            <a:r>
              <a:rPr dirty="0" sz="1100" spc="-8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'data_module'])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861310"/>
            <a:ext cx="110680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Target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array: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3023870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[0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3186429"/>
            <a:ext cx="43370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3348990"/>
            <a:ext cx="588962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3511550"/>
            <a:ext cx="26479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3674109"/>
            <a:ext cx="588962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3836670"/>
            <a:ext cx="26479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3999229"/>
            <a:ext cx="588962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4161790"/>
            <a:ext cx="26479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4324350"/>
            <a:ext cx="421005" cy="161925"/>
          </a:xfrm>
          <a:custGeom>
            <a:avLst/>
            <a:gdLst/>
            <a:ahLst/>
            <a:cxnLst/>
            <a:rect l="l" t="t" r="r" b="b"/>
            <a:pathLst>
              <a:path w="421005" h="161925">
                <a:moveTo>
                  <a:pt x="421005" y="0"/>
                </a:moveTo>
                <a:lnTo>
                  <a:pt x="0" y="0"/>
                </a:lnTo>
                <a:lnTo>
                  <a:pt x="0" y="161925"/>
                </a:lnTo>
                <a:lnTo>
                  <a:pt x="421005" y="161925"/>
                </a:lnTo>
                <a:lnTo>
                  <a:pt x="4210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02969" y="4300854"/>
            <a:ext cx="4991100" cy="645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2]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df=pd.DataFrame(iris[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'data'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],columns=iris[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'feature_names'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"Feature</a:t>
            </a:r>
            <a:r>
              <a:rPr dirty="0" sz="1100" spc="-1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Data:</a:t>
            </a:r>
            <a:r>
              <a:rPr dirty="0" sz="1100" spc="-1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,df.head())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14400" y="5066029"/>
          <a:ext cx="5544185" cy="2108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8745"/>
                <a:gridCol w="462280"/>
                <a:gridCol w="546100"/>
                <a:gridCol w="504189"/>
                <a:gridCol w="462279"/>
                <a:gridCol w="546100"/>
                <a:gridCol w="588010"/>
                <a:gridCol w="461645"/>
                <a:gridCol w="504189"/>
              </a:tblGrid>
              <a:tr h="323850">
                <a:tc>
                  <a:txBody>
                    <a:bodyPr/>
                    <a:lstStyle/>
                    <a:p>
                      <a:pPr marL="635">
                        <a:lnSpc>
                          <a:spcPts val="1215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Feature</a:t>
                      </a:r>
                      <a:r>
                        <a:rPr dirty="0" sz="1100" spc="-8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Data: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337185">
                        <a:lnSpc>
                          <a:spcPts val="124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sepal</a:t>
                      </a:r>
                      <a:r>
                        <a:rPr dirty="0" sz="1100" spc="-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length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(cm)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sepal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width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(cm)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petal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length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(cm)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petal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51765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width</a:t>
                      </a:r>
                      <a:r>
                        <a:rPr dirty="0" sz="1100" spc="-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0">
                          <a:latin typeface="Courier New"/>
                          <a:cs typeface="Courier New"/>
                        </a:rPr>
                        <a:t>(cm)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5.1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3.5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1.4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0.2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4.9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1.4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0.2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4.7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3.2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1.3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0.2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4.6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3.1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1.5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0.2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1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3.6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1.4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0.2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914400" y="7920990"/>
            <a:ext cx="4123054" cy="161925"/>
          </a:xfrm>
          <a:custGeom>
            <a:avLst/>
            <a:gdLst/>
            <a:ahLst/>
            <a:cxnLst/>
            <a:rect l="l" t="t" r="r" b="b"/>
            <a:pathLst>
              <a:path w="4123054" h="161925">
                <a:moveTo>
                  <a:pt x="4123054" y="0"/>
                </a:moveTo>
                <a:lnTo>
                  <a:pt x="0" y="0"/>
                </a:lnTo>
                <a:lnTo>
                  <a:pt x="0" y="161924"/>
                </a:lnTo>
                <a:lnTo>
                  <a:pt x="4123054" y="161924"/>
                </a:lnTo>
                <a:lnTo>
                  <a:pt x="412305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02969" y="7282815"/>
            <a:ext cx="4146550" cy="80772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338455">
              <a:lnSpc>
                <a:spcPts val="1280"/>
              </a:lnSpc>
              <a:spcBef>
                <a:spcPts val="175"/>
              </a:spcBef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"Target</a:t>
            </a:r>
            <a:r>
              <a:rPr dirty="0" sz="1100" spc="-14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names:"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,iris[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'target_names'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"Feature</a:t>
            </a:r>
            <a:r>
              <a:rPr dirty="0" sz="1100" spc="-1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names:"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,iris[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'feature_names'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"Target</a:t>
            </a:r>
            <a:r>
              <a:rPr dirty="0" sz="1100" spc="-14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array:</a:t>
            </a:r>
            <a:r>
              <a:rPr dirty="0" sz="1100" spc="-1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,iris[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'target'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latin typeface="Courier New"/>
                <a:cs typeface="Courier New"/>
              </a:rPr>
              <a:t>Target</a:t>
            </a:r>
            <a:r>
              <a:rPr dirty="0" sz="1100" spc="-9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names: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['setosa'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'versicolor'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'virginica']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8083550"/>
            <a:ext cx="588962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Feature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names: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['sepal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length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(cm)',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'sepal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width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(cm)',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'petal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length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8246109"/>
            <a:ext cx="220027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(cm)',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'petal</a:t>
            </a:r>
            <a:r>
              <a:rPr dirty="0" sz="1100" spc="-6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width</a:t>
            </a:r>
            <a:r>
              <a:rPr dirty="0" sz="1100" spc="-6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(cm)']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8408669"/>
            <a:ext cx="110680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Target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array: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8571230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[0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8733790"/>
            <a:ext cx="43370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14400" y="8896350"/>
            <a:ext cx="5889625" cy="161925"/>
          </a:xfrm>
          <a:custGeom>
            <a:avLst/>
            <a:gdLst/>
            <a:ahLst/>
            <a:cxnLst/>
            <a:rect l="l" t="t" r="r" b="b"/>
            <a:pathLst>
              <a:path w="5889625" h="161925">
                <a:moveTo>
                  <a:pt x="5889625" y="0"/>
                </a:moveTo>
                <a:lnTo>
                  <a:pt x="0" y="0"/>
                </a:lnTo>
                <a:lnTo>
                  <a:pt x="0" y="161925"/>
                </a:lnTo>
                <a:lnTo>
                  <a:pt x="5889625" y="161925"/>
                </a:lnTo>
                <a:lnTo>
                  <a:pt x="58896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987069" y="8872855"/>
            <a:ext cx="58286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48360" y="914400"/>
            <a:ext cx="6076315" cy="8209915"/>
          </a:xfrm>
          <a:custGeom>
            <a:avLst/>
            <a:gdLst/>
            <a:ahLst/>
            <a:cxnLst/>
            <a:rect l="l" t="t" r="r" b="b"/>
            <a:pathLst>
              <a:path w="6076315" h="8209915">
                <a:moveTo>
                  <a:pt x="0" y="1904"/>
                </a:moveTo>
                <a:lnTo>
                  <a:pt x="6076315" y="1904"/>
                </a:lnTo>
              </a:path>
              <a:path w="6076315" h="8209915">
                <a:moveTo>
                  <a:pt x="6075045" y="0"/>
                </a:moveTo>
                <a:lnTo>
                  <a:pt x="6075045" y="1006475"/>
                </a:lnTo>
              </a:path>
              <a:path w="6076315" h="8209915">
                <a:moveTo>
                  <a:pt x="1905" y="1006475"/>
                </a:moveTo>
                <a:lnTo>
                  <a:pt x="1905" y="0"/>
                </a:lnTo>
              </a:path>
              <a:path w="6076315" h="8209915">
                <a:moveTo>
                  <a:pt x="6075045" y="879475"/>
                </a:moveTo>
                <a:lnTo>
                  <a:pt x="6075045" y="1621154"/>
                </a:lnTo>
              </a:path>
              <a:path w="6076315" h="8209915">
                <a:moveTo>
                  <a:pt x="1905" y="1621154"/>
                </a:moveTo>
                <a:lnTo>
                  <a:pt x="1905" y="879475"/>
                </a:lnTo>
              </a:path>
              <a:path w="6076315" h="8209915">
                <a:moveTo>
                  <a:pt x="6075045" y="1494154"/>
                </a:moveTo>
                <a:lnTo>
                  <a:pt x="6075045" y="3698875"/>
                </a:lnTo>
              </a:path>
              <a:path w="6076315" h="8209915">
                <a:moveTo>
                  <a:pt x="1905" y="3698875"/>
                </a:moveTo>
                <a:lnTo>
                  <a:pt x="1905" y="1494154"/>
                </a:lnTo>
              </a:path>
              <a:path w="6076315" h="8209915">
                <a:moveTo>
                  <a:pt x="6075045" y="3571875"/>
                </a:moveTo>
                <a:lnTo>
                  <a:pt x="6075045" y="4150995"/>
                </a:lnTo>
              </a:path>
              <a:path w="6076315" h="8209915">
                <a:moveTo>
                  <a:pt x="1905" y="4150995"/>
                </a:moveTo>
                <a:lnTo>
                  <a:pt x="1905" y="3571875"/>
                </a:lnTo>
              </a:path>
              <a:path w="6076315" h="8209915">
                <a:moveTo>
                  <a:pt x="6075045" y="4023995"/>
                </a:moveTo>
                <a:lnTo>
                  <a:pt x="6075045" y="6391275"/>
                </a:lnTo>
              </a:path>
              <a:path w="6076315" h="8209915">
                <a:moveTo>
                  <a:pt x="1905" y="6391275"/>
                </a:moveTo>
                <a:lnTo>
                  <a:pt x="1905" y="4023995"/>
                </a:lnTo>
              </a:path>
              <a:path w="6076315" h="8209915">
                <a:moveTo>
                  <a:pt x="6075045" y="6264275"/>
                </a:moveTo>
                <a:lnTo>
                  <a:pt x="6075045" y="7005955"/>
                </a:lnTo>
              </a:path>
              <a:path w="6076315" h="8209915">
                <a:moveTo>
                  <a:pt x="1905" y="7005955"/>
                </a:moveTo>
                <a:lnTo>
                  <a:pt x="1905" y="6264275"/>
                </a:lnTo>
              </a:path>
              <a:path w="6076315" h="8209915">
                <a:moveTo>
                  <a:pt x="6075045" y="6878955"/>
                </a:moveTo>
                <a:lnTo>
                  <a:pt x="6075045" y="8209915"/>
                </a:lnTo>
              </a:path>
              <a:path w="6076315" h="8209915">
                <a:moveTo>
                  <a:pt x="6076315" y="8208645"/>
                </a:moveTo>
                <a:lnTo>
                  <a:pt x="0" y="8208645"/>
                </a:lnTo>
              </a:path>
              <a:path w="6076315" h="8209915">
                <a:moveTo>
                  <a:pt x="1905" y="8209915"/>
                </a:moveTo>
                <a:lnTo>
                  <a:pt x="1905" y="6878955"/>
                </a:lnTo>
              </a:path>
              <a:path w="6076315" h="8209915">
                <a:moveTo>
                  <a:pt x="0" y="1904"/>
                </a:moveTo>
                <a:lnTo>
                  <a:pt x="6076315" y="1904"/>
                </a:lnTo>
              </a:path>
              <a:path w="6076315" h="8209915">
                <a:moveTo>
                  <a:pt x="6075045" y="0"/>
                </a:moveTo>
                <a:lnTo>
                  <a:pt x="6075045" y="1006475"/>
                </a:lnTo>
              </a:path>
              <a:path w="6076315" h="8209915">
                <a:moveTo>
                  <a:pt x="1905" y="1006475"/>
                </a:moveTo>
                <a:lnTo>
                  <a:pt x="1905" y="0"/>
                </a:lnTo>
              </a:path>
              <a:path w="6076315" h="8209915">
                <a:moveTo>
                  <a:pt x="6075045" y="879475"/>
                </a:moveTo>
                <a:lnTo>
                  <a:pt x="6075045" y="1621154"/>
                </a:lnTo>
              </a:path>
              <a:path w="6076315" h="8209915">
                <a:moveTo>
                  <a:pt x="1905" y="1621154"/>
                </a:moveTo>
                <a:lnTo>
                  <a:pt x="1905" y="879475"/>
                </a:lnTo>
              </a:path>
              <a:path w="6076315" h="8209915">
                <a:moveTo>
                  <a:pt x="6075045" y="1494154"/>
                </a:moveTo>
                <a:lnTo>
                  <a:pt x="6075045" y="3698875"/>
                </a:lnTo>
              </a:path>
              <a:path w="6076315" h="8209915">
                <a:moveTo>
                  <a:pt x="1905" y="3698875"/>
                </a:moveTo>
                <a:lnTo>
                  <a:pt x="1905" y="1494154"/>
                </a:lnTo>
              </a:path>
              <a:path w="6076315" h="8209915">
                <a:moveTo>
                  <a:pt x="6075045" y="3571875"/>
                </a:moveTo>
                <a:lnTo>
                  <a:pt x="6075045" y="4150995"/>
                </a:lnTo>
              </a:path>
              <a:path w="6076315" h="8209915">
                <a:moveTo>
                  <a:pt x="1905" y="4150995"/>
                </a:moveTo>
                <a:lnTo>
                  <a:pt x="1905" y="3571875"/>
                </a:lnTo>
              </a:path>
              <a:path w="6076315" h="8209915">
                <a:moveTo>
                  <a:pt x="6075045" y="4023995"/>
                </a:moveTo>
                <a:lnTo>
                  <a:pt x="6075045" y="6391275"/>
                </a:lnTo>
              </a:path>
              <a:path w="6076315" h="8209915">
                <a:moveTo>
                  <a:pt x="1905" y="6391275"/>
                </a:moveTo>
                <a:lnTo>
                  <a:pt x="1905" y="4023995"/>
                </a:lnTo>
              </a:path>
              <a:path w="6076315" h="8209915">
                <a:moveTo>
                  <a:pt x="6075045" y="6264275"/>
                </a:moveTo>
                <a:lnTo>
                  <a:pt x="6075045" y="7005955"/>
                </a:lnTo>
              </a:path>
              <a:path w="6076315" h="8209915">
                <a:moveTo>
                  <a:pt x="1905" y="7005955"/>
                </a:moveTo>
                <a:lnTo>
                  <a:pt x="1905" y="6264275"/>
                </a:lnTo>
              </a:path>
              <a:path w="6076315" h="8209915">
                <a:moveTo>
                  <a:pt x="6075045" y="6878955"/>
                </a:moveTo>
                <a:lnTo>
                  <a:pt x="6075045" y="8209915"/>
                </a:lnTo>
              </a:path>
              <a:path w="6076315" h="8209915">
                <a:moveTo>
                  <a:pt x="6076315" y="8208645"/>
                </a:moveTo>
                <a:lnTo>
                  <a:pt x="0" y="8208645"/>
                </a:lnTo>
              </a:path>
              <a:path w="6076315" h="8209915">
                <a:moveTo>
                  <a:pt x="1905" y="8209915"/>
                </a:moveTo>
                <a:lnTo>
                  <a:pt x="1905" y="687895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6337300"/>
          </a:xfrm>
          <a:custGeom>
            <a:avLst/>
            <a:gdLst/>
            <a:ahLst/>
            <a:cxnLst/>
            <a:rect l="l" t="t" r="r" b="b"/>
            <a:pathLst>
              <a:path w="6076950" h="6337300">
                <a:moveTo>
                  <a:pt x="6076950" y="0"/>
                </a:moveTo>
                <a:lnTo>
                  <a:pt x="0" y="0"/>
                </a:lnTo>
                <a:lnTo>
                  <a:pt x="0" y="1042035"/>
                </a:lnTo>
                <a:lnTo>
                  <a:pt x="0" y="1042670"/>
                </a:lnTo>
                <a:lnTo>
                  <a:pt x="0" y="6337300"/>
                </a:lnTo>
                <a:lnTo>
                  <a:pt x="6076950" y="6337300"/>
                </a:lnTo>
                <a:lnTo>
                  <a:pt x="6076950" y="10420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4400" y="981710"/>
            <a:ext cx="26479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1144269"/>
          <a:ext cx="5975350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20"/>
                <a:gridCol w="12763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4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68275"/>
                <a:gridCol w="127635"/>
              </a:tblGrid>
              <a:tr h="161925">
                <a:tc gridSpan="35">
                  <a:txBody>
                    <a:bodyPr/>
                    <a:lstStyle/>
                    <a:p>
                      <a:pPr marL="85090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 gridSpan="3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 algn="ctr" marL="2540" marR="317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 gridSpan="3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4400" y="1794510"/>
            <a:ext cx="43370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2]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3801109"/>
            <a:ext cx="2440305" cy="161925"/>
          </a:xfrm>
          <a:custGeom>
            <a:avLst/>
            <a:gdLst/>
            <a:ahLst/>
            <a:cxnLst/>
            <a:rect l="l" t="t" r="r" b="b"/>
            <a:pathLst>
              <a:path w="2440304" h="161925">
                <a:moveTo>
                  <a:pt x="2440304" y="0"/>
                </a:moveTo>
                <a:lnTo>
                  <a:pt x="0" y="0"/>
                </a:lnTo>
                <a:lnTo>
                  <a:pt x="0" y="161925"/>
                </a:lnTo>
                <a:lnTo>
                  <a:pt x="2440304" y="161925"/>
                </a:lnTo>
                <a:lnTo>
                  <a:pt x="244030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02969" y="2060575"/>
            <a:ext cx="5916295" cy="191008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4547870">
              <a:lnSpc>
                <a:spcPts val="1280"/>
              </a:lnSpc>
              <a:spcBef>
                <a:spcPts val="175"/>
              </a:spcBef>
            </a:pP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X=df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y=iris[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'target'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X_train,X_test,y_train,y_test=train_test_split(X,y,test_size=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0.33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,rand om_state=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42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1856105">
              <a:lnSpc>
                <a:spcPts val="1280"/>
              </a:lnSpc>
              <a:spcBef>
                <a:spcPts val="100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knn=KNeighborsClassifier(n_neighbors=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knn.fit(X_train,y_train) y_pred=knn.predict(X_test) cm_test=confusion_matrix(y_test,y_pred)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"Confusion</a:t>
            </a:r>
            <a:r>
              <a:rPr dirty="0" sz="1100" spc="-4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Matrix</a:t>
            </a:r>
            <a:r>
              <a:rPr dirty="0" sz="1100" spc="-4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(Test</a:t>
            </a:r>
            <a:r>
              <a:rPr dirty="0" sz="1100" spc="-4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Data):</a:t>
            </a:r>
            <a:r>
              <a:rPr dirty="0" sz="1100" spc="-1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,cm_test)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latin typeface="Courier New"/>
                <a:cs typeface="Courier New"/>
              </a:rPr>
              <a:t>Confusion</a:t>
            </a:r>
            <a:r>
              <a:rPr dirty="0" sz="1100" spc="-7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Matrix</a:t>
            </a:r>
            <a:r>
              <a:rPr dirty="0" sz="1100" spc="-7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(Test</a:t>
            </a:r>
            <a:r>
              <a:rPr dirty="0" sz="1100" spc="-7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Data):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3963670"/>
            <a:ext cx="10217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589280" algn="l"/>
                <a:tab pos="842010" algn="l"/>
              </a:tabLst>
            </a:pPr>
            <a:r>
              <a:rPr dirty="0" sz="1100" spc="-20">
                <a:latin typeface="Courier New"/>
                <a:cs typeface="Courier New"/>
              </a:rPr>
              <a:t>[[19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0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0]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4126229"/>
            <a:ext cx="937894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757555" algn="l"/>
              </a:tabLst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 spc="-35">
                <a:latin typeface="Courier New"/>
                <a:cs typeface="Courier New"/>
              </a:rPr>
              <a:t>15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0]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4288789"/>
            <a:ext cx="4290695" cy="2132965"/>
          </a:xfrm>
          <a:custGeom>
            <a:avLst/>
            <a:gdLst/>
            <a:ahLst/>
            <a:cxnLst/>
            <a:rect l="l" t="t" r="r" b="b"/>
            <a:pathLst>
              <a:path w="4290695" h="2132965">
                <a:moveTo>
                  <a:pt x="1009015" y="0"/>
                </a:moveTo>
                <a:lnTo>
                  <a:pt x="0" y="0"/>
                </a:lnTo>
                <a:lnTo>
                  <a:pt x="0" y="161925"/>
                </a:lnTo>
                <a:lnTo>
                  <a:pt x="1009015" y="161925"/>
                </a:lnTo>
                <a:lnTo>
                  <a:pt x="1009015" y="0"/>
                </a:lnTo>
                <a:close/>
              </a:path>
              <a:path w="4290695" h="2132965">
                <a:moveTo>
                  <a:pt x="2776855" y="1971040"/>
                </a:moveTo>
                <a:lnTo>
                  <a:pt x="0" y="1971040"/>
                </a:lnTo>
                <a:lnTo>
                  <a:pt x="0" y="2132965"/>
                </a:lnTo>
                <a:lnTo>
                  <a:pt x="2776855" y="2132965"/>
                </a:lnTo>
                <a:lnTo>
                  <a:pt x="2776855" y="1971040"/>
                </a:lnTo>
                <a:close/>
              </a:path>
              <a:path w="4290695" h="2132965">
                <a:moveTo>
                  <a:pt x="3281045" y="904240"/>
                </a:moveTo>
                <a:lnTo>
                  <a:pt x="0" y="904240"/>
                </a:lnTo>
                <a:lnTo>
                  <a:pt x="0" y="1066165"/>
                </a:lnTo>
                <a:lnTo>
                  <a:pt x="3281045" y="1066165"/>
                </a:lnTo>
                <a:lnTo>
                  <a:pt x="3281045" y="904240"/>
                </a:lnTo>
                <a:close/>
              </a:path>
              <a:path w="4290695" h="2132965">
                <a:moveTo>
                  <a:pt x="4290695" y="1066800"/>
                </a:moveTo>
                <a:lnTo>
                  <a:pt x="0" y="1066800"/>
                </a:lnTo>
                <a:lnTo>
                  <a:pt x="0" y="1228725"/>
                </a:lnTo>
                <a:lnTo>
                  <a:pt x="4290695" y="1228725"/>
                </a:lnTo>
                <a:lnTo>
                  <a:pt x="4290695" y="10668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02969" y="4265295"/>
            <a:ext cx="4821555" cy="2164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0</a:t>
            </a:r>
            <a:r>
              <a:rPr dirty="0" sz="1100">
                <a:latin typeface="Courier New"/>
                <a:cs typeface="Courier New"/>
              </a:rPr>
              <a:t>	1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15]]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accuracy_test=accuracy_score(y_test,y_pred)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"Confusion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prediction</a:t>
            </a:r>
            <a:r>
              <a:rPr dirty="0" sz="1100" spc="-4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on</a:t>
            </a:r>
            <a:r>
              <a:rPr dirty="0" sz="1100" spc="-4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1100" spc="-4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data:"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,accuracy_test)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"Wrong</a:t>
            </a:r>
            <a:r>
              <a:rPr dirty="0" sz="1100" spc="-7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prediction</a:t>
            </a:r>
            <a:r>
              <a:rPr dirty="0" sz="1100" spc="-7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on</a:t>
            </a:r>
            <a:r>
              <a:rPr dirty="0" sz="1100" spc="-7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test</a:t>
            </a:r>
            <a:r>
              <a:rPr dirty="0" sz="1100" spc="-7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data:"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-accuracy_test)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925"/>
              </a:spcBef>
            </a:pPr>
            <a:r>
              <a:rPr dirty="0" sz="1100">
                <a:latin typeface="Courier New"/>
                <a:cs typeface="Courier New"/>
              </a:rPr>
              <a:t>Confusion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prediction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on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test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data:</a:t>
            </a:r>
            <a:r>
              <a:rPr dirty="0" sz="1100" spc="-65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0.98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dirty="0" sz="1100">
                <a:latin typeface="Courier New"/>
                <a:cs typeface="Courier New"/>
              </a:rPr>
              <a:t>Wrong</a:t>
            </a:r>
            <a:r>
              <a:rPr dirty="0" sz="1100" spc="-6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prediction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on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test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data: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0.020000000000000018</a:t>
            </a:r>
            <a:endParaRPr sz="1100">
              <a:latin typeface="Courier New"/>
              <a:cs typeface="Courier New"/>
            </a:endParaRPr>
          </a:p>
          <a:p>
            <a:pPr marL="12700" marR="340995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y_train_pred=knn.predict(X_train) cm_train=confusion_matrix(y_train,y_train_pred)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"Confusion</a:t>
            </a:r>
            <a:r>
              <a:rPr dirty="0" sz="1100" spc="-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Matrix</a:t>
            </a:r>
            <a:r>
              <a:rPr dirty="0" sz="1100" spc="-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(Training</a:t>
            </a:r>
            <a:r>
              <a:rPr dirty="0" sz="1100" spc="-6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Data):</a:t>
            </a:r>
            <a:r>
              <a:rPr dirty="0" sz="1100" spc="-1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,cm_train)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100">
                <a:latin typeface="Courier New"/>
                <a:cs typeface="Courier New"/>
              </a:rPr>
              <a:t>Confusion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Matrix</a:t>
            </a:r>
            <a:r>
              <a:rPr dirty="0" sz="1100" spc="-9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(Training</a:t>
            </a:r>
            <a:r>
              <a:rPr dirty="0" sz="1100" spc="-8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Data):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6422390"/>
            <a:ext cx="10217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589280" algn="l"/>
                <a:tab pos="842010" algn="l"/>
              </a:tabLst>
            </a:pPr>
            <a:r>
              <a:rPr dirty="0" sz="1100" spc="-20">
                <a:latin typeface="Courier New"/>
                <a:cs typeface="Courier New"/>
              </a:rPr>
              <a:t>[[31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50">
                <a:latin typeface="Courier New"/>
                <a:cs typeface="Courier New"/>
              </a:rPr>
              <a:t>0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0]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6584950"/>
            <a:ext cx="937894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757555" algn="l"/>
              </a:tabLst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 spc="-35">
                <a:latin typeface="Courier New"/>
                <a:cs typeface="Courier New"/>
              </a:rPr>
              <a:t>33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5">
                <a:latin typeface="Courier New"/>
                <a:cs typeface="Courier New"/>
              </a:rPr>
              <a:t>2]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6747509"/>
            <a:ext cx="1009015" cy="161925"/>
          </a:xfrm>
          <a:custGeom>
            <a:avLst/>
            <a:gdLst/>
            <a:ahLst/>
            <a:cxnLst/>
            <a:rect l="l" t="t" r="r" b="b"/>
            <a:pathLst>
              <a:path w="1009014" h="161925">
                <a:moveTo>
                  <a:pt x="1009014" y="0"/>
                </a:moveTo>
                <a:lnTo>
                  <a:pt x="0" y="0"/>
                </a:lnTo>
                <a:lnTo>
                  <a:pt x="0" y="161925"/>
                </a:lnTo>
                <a:lnTo>
                  <a:pt x="1009014" y="161925"/>
                </a:lnTo>
                <a:lnTo>
                  <a:pt x="100901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87069" y="6724015"/>
            <a:ext cx="95059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070" algn="l"/>
              </a:tabLst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0</a:t>
            </a:r>
            <a:r>
              <a:rPr dirty="0" sz="1100">
                <a:latin typeface="Courier New"/>
                <a:cs typeface="Courier New"/>
              </a:rPr>
              <a:t>	2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32]]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48360" y="914400"/>
            <a:ext cx="6076315" cy="6336665"/>
          </a:xfrm>
          <a:custGeom>
            <a:avLst/>
            <a:gdLst/>
            <a:ahLst/>
            <a:cxnLst/>
            <a:rect l="l" t="t" r="r" b="b"/>
            <a:pathLst>
              <a:path w="6076315" h="6336665">
                <a:moveTo>
                  <a:pt x="0" y="1904"/>
                </a:moveTo>
                <a:lnTo>
                  <a:pt x="6076315" y="1904"/>
                </a:lnTo>
              </a:path>
              <a:path w="6076315" h="6336665">
                <a:moveTo>
                  <a:pt x="6075045" y="0"/>
                </a:moveTo>
                <a:lnTo>
                  <a:pt x="6075045" y="1169034"/>
                </a:lnTo>
              </a:path>
              <a:path w="6076315" h="6336665">
                <a:moveTo>
                  <a:pt x="1905" y="1169034"/>
                </a:moveTo>
                <a:lnTo>
                  <a:pt x="1905" y="0"/>
                </a:lnTo>
              </a:path>
              <a:path w="6076315" h="6336665">
                <a:moveTo>
                  <a:pt x="6075045" y="1042034"/>
                </a:moveTo>
                <a:lnTo>
                  <a:pt x="6075045" y="1946275"/>
                </a:lnTo>
              </a:path>
              <a:path w="6076315" h="6336665">
                <a:moveTo>
                  <a:pt x="1905" y="1946275"/>
                </a:moveTo>
                <a:lnTo>
                  <a:pt x="1905" y="1042034"/>
                </a:lnTo>
              </a:path>
              <a:path w="6076315" h="6336665">
                <a:moveTo>
                  <a:pt x="6075045" y="1819275"/>
                </a:moveTo>
                <a:lnTo>
                  <a:pt x="6075045" y="2886075"/>
                </a:lnTo>
              </a:path>
              <a:path w="6076315" h="6336665">
                <a:moveTo>
                  <a:pt x="1905" y="2886075"/>
                </a:moveTo>
                <a:lnTo>
                  <a:pt x="1905" y="1819275"/>
                </a:lnTo>
              </a:path>
              <a:path w="6076315" h="6336665">
                <a:moveTo>
                  <a:pt x="6075045" y="2759075"/>
                </a:moveTo>
                <a:lnTo>
                  <a:pt x="6075045" y="3663315"/>
                </a:lnTo>
              </a:path>
              <a:path w="6076315" h="6336665">
                <a:moveTo>
                  <a:pt x="1905" y="3663315"/>
                </a:moveTo>
                <a:lnTo>
                  <a:pt x="1905" y="2759075"/>
                </a:lnTo>
              </a:path>
              <a:path w="6076315" h="6336665">
                <a:moveTo>
                  <a:pt x="6075045" y="3536315"/>
                </a:moveTo>
                <a:lnTo>
                  <a:pt x="6075045" y="4277995"/>
                </a:lnTo>
              </a:path>
              <a:path w="6076315" h="6336665">
                <a:moveTo>
                  <a:pt x="1905" y="4277995"/>
                </a:moveTo>
                <a:lnTo>
                  <a:pt x="1905" y="3536315"/>
                </a:lnTo>
              </a:path>
              <a:path w="6076315" h="6336665">
                <a:moveTo>
                  <a:pt x="6075045" y="4150995"/>
                </a:moveTo>
                <a:lnTo>
                  <a:pt x="6075045" y="4730115"/>
                </a:lnTo>
              </a:path>
              <a:path w="6076315" h="6336665">
                <a:moveTo>
                  <a:pt x="1905" y="4730115"/>
                </a:moveTo>
                <a:lnTo>
                  <a:pt x="1905" y="4150995"/>
                </a:lnTo>
              </a:path>
              <a:path w="6076315" h="6336665">
                <a:moveTo>
                  <a:pt x="6075045" y="4603115"/>
                </a:moveTo>
                <a:lnTo>
                  <a:pt x="6075045" y="5344795"/>
                </a:lnTo>
              </a:path>
              <a:path w="6076315" h="6336665">
                <a:moveTo>
                  <a:pt x="1905" y="5344795"/>
                </a:moveTo>
                <a:lnTo>
                  <a:pt x="1905" y="4603115"/>
                </a:lnTo>
              </a:path>
              <a:path w="6076315" h="6336665">
                <a:moveTo>
                  <a:pt x="6075045" y="5217795"/>
                </a:moveTo>
                <a:lnTo>
                  <a:pt x="6075045" y="6122035"/>
                </a:lnTo>
              </a:path>
              <a:path w="6076315" h="6336665">
                <a:moveTo>
                  <a:pt x="1905" y="6122035"/>
                </a:moveTo>
                <a:lnTo>
                  <a:pt x="1905" y="5217795"/>
                </a:lnTo>
              </a:path>
              <a:path w="6076315" h="6336665">
                <a:moveTo>
                  <a:pt x="6075045" y="5995035"/>
                </a:moveTo>
                <a:lnTo>
                  <a:pt x="6075045" y="6336665"/>
                </a:lnTo>
              </a:path>
              <a:path w="6076315" h="6336665">
                <a:moveTo>
                  <a:pt x="6076315" y="6335395"/>
                </a:moveTo>
                <a:lnTo>
                  <a:pt x="0" y="6335395"/>
                </a:lnTo>
              </a:path>
              <a:path w="6076315" h="6336665">
                <a:moveTo>
                  <a:pt x="1905" y="6336665"/>
                </a:moveTo>
                <a:lnTo>
                  <a:pt x="1905" y="5995035"/>
                </a:lnTo>
              </a:path>
              <a:path w="6076315" h="6336665">
                <a:moveTo>
                  <a:pt x="0" y="1904"/>
                </a:moveTo>
                <a:lnTo>
                  <a:pt x="6076315" y="1904"/>
                </a:lnTo>
              </a:path>
              <a:path w="6076315" h="6336665">
                <a:moveTo>
                  <a:pt x="6075045" y="0"/>
                </a:moveTo>
                <a:lnTo>
                  <a:pt x="6075045" y="1169034"/>
                </a:lnTo>
              </a:path>
              <a:path w="6076315" h="6336665">
                <a:moveTo>
                  <a:pt x="1905" y="1169034"/>
                </a:moveTo>
                <a:lnTo>
                  <a:pt x="1905" y="0"/>
                </a:lnTo>
              </a:path>
              <a:path w="6076315" h="6336665">
                <a:moveTo>
                  <a:pt x="6075045" y="1042034"/>
                </a:moveTo>
                <a:lnTo>
                  <a:pt x="6075045" y="1946275"/>
                </a:lnTo>
              </a:path>
              <a:path w="6076315" h="6336665">
                <a:moveTo>
                  <a:pt x="1905" y="1946275"/>
                </a:moveTo>
                <a:lnTo>
                  <a:pt x="1905" y="1042034"/>
                </a:lnTo>
              </a:path>
              <a:path w="6076315" h="6336665">
                <a:moveTo>
                  <a:pt x="6075045" y="1819275"/>
                </a:moveTo>
                <a:lnTo>
                  <a:pt x="6075045" y="2886075"/>
                </a:lnTo>
              </a:path>
              <a:path w="6076315" h="6336665">
                <a:moveTo>
                  <a:pt x="1905" y="2886075"/>
                </a:moveTo>
                <a:lnTo>
                  <a:pt x="1905" y="1819275"/>
                </a:lnTo>
              </a:path>
              <a:path w="6076315" h="6336665">
                <a:moveTo>
                  <a:pt x="6075045" y="2759075"/>
                </a:moveTo>
                <a:lnTo>
                  <a:pt x="6075045" y="3663315"/>
                </a:lnTo>
              </a:path>
              <a:path w="6076315" h="6336665">
                <a:moveTo>
                  <a:pt x="1905" y="3663315"/>
                </a:moveTo>
                <a:lnTo>
                  <a:pt x="1905" y="2759075"/>
                </a:lnTo>
              </a:path>
              <a:path w="6076315" h="6336665">
                <a:moveTo>
                  <a:pt x="6075045" y="3536315"/>
                </a:moveTo>
                <a:lnTo>
                  <a:pt x="6075045" y="4277995"/>
                </a:lnTo>
              </a:path>
              <a:path w="6076315" h="6336665">
                <a:moveTo>
                  <a:pt x="1905" y="4277995"/>
                </a:moveTo>
                <a:lnTo>
                  <a:pt x="1905" y="3536315"/>
                </a:lnTo>
              </a:path>
              <a:path w="6076315" h="6336665">
                <a:moveTo>
                  <a:pt x="6075045" y="4150995"/>
                </a:moveTo>
                <a:lnTo>
                  <a:pt x="6075045" y="4730115"/>
                </a:lnTo>
              </a:path>
              <a:path w="6076315" h="6336665">
                <a:moveTo>
                  <a:pt x="1905" y="4730115"/>
                </a:moveTo>
                <a:lnTo>
                  <a:pt x="1905" y="4150995"/>
                </a:lnTo>
              </a:path>
              <a:path w="6076315" h="6336665">
                <a:moveTo>
                  <a:pt x="6075045" y="4603115"/>
                </a:moveTo>
                <a:lnTo>
                  <a:pt x="6075045" y="5344795"/>
                </a:lnTo>
              </a:path>
              <a:path w="6076315" h="6336665">
                <a:moveTo>
                  <a:pt x="1905" y="5344795"/>
                </a:moveTo>
                <a:lnTo>
                  <a:pt x="1905" y="4603115"/>
                </a:lnTo>
              </a:path>
              <a:path w="6076315" h="6336665">
                <a:moveTo>
                  <a:pt x="6075045" y="5217795"/>
                </a:moveTo>
                <a:lnTo>
                  <a:pt x="6075045" y="6122035"/>
                </a:lnTo>
              </a:path>
              <a:path w="6076315" h="6336665">
                <a:moveTo>
                  <a:pt x="1905" y="6122035"/>
                </a:moveTo>
                <a:lnTo>
                  <a:pt x="1905" y="5217795"/>
                </a:lnTo>
              </a:path>
              <a:path w="6076315" h="6336665">
                <a:moveTo>
                  <a:pt x="6075045" y="5995035"/>
                </a:moveTo>
                <a:lnTo>
                  <a:pt x="6075045" y="6336665"/>
                </a:lnTo>
              </a:path>
              <a:path w="6076315" h="6336665">
                <a:moveTo>
                  <a:pt x="6076315" y="6335395"/>
                </a:moveTo>
                <a:lnTo>
                  <a:pt x="0" y="6335395"/>
                </a:lnTo>
              </a:path>
              <a:path w="6076315" h="6336665">
                <a:moveTo>
                  <a:pt x="1905" y="6336665"/>
                </a:moveTo>
                <a:lnTo>
                  <a:pt x="1905" y="599503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225790"/>
            <a:chOff x="847725" y="913764"/>
            <a:chExt cx="6076950" cy="8225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225790"/>
            </a:xfrm>
            <a:custGeom>
              <a:avLst/>
              <a:gdLst/>
              <a:ahLst/>
              <a:cxnLst/>
              <a:rect l="l" t="t" r="r" b="b"/>
              <a:pathLst>
                <a:path w="6076950" h="8225790">
                  <a:moveTo>
                    <a:pt x="6076950" y="0"/>
                  </a:moveTo>
                  <a:lnTo>
                    <a:pt x="0" y="0"/>
                  </a:lnTo>
                  <a:lnTo>
                    <a:pt x="0" y="5918835"/>
                  </a:lnTo>
                  <a:lnTo>
                    <a:pt x="0" y="5919470"/>
                  </a:lnTo>
                  <a:lnTo>
                    <a:pt x="0" y="8225790"/>
                  </a:lnTo>
                  <a:lnTo>
                    <a:pt x="6076950" y="8225790"/>
                  </a:lnTo>
                  <a:lnTo>
                    <a:pt x="6076950" y="5919470"/>
                  </a:lnTo>
                  <a:lnTo>
                    <a:pt x="6076950" y="591883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6960869"/>
              <a:ext cx="2776855" cy="161925"/>
            </a:xfrm>
            <a:custGeom>
              <a:avLst/>
              <a:gdLst/>
              <a:ahLst/>
              <a:cxnLst/>
              <a:rect l="l" t="t" r="r" b="b"/>
              <a:pathLst>
                <a:path w="2776854" h="161925">
                  <a:moveTo>
                    <a:pt x="2776854" y="0"/>
                  </a:moveTo>
                  <a:lnTo>
                    <a:pt x="0" y="0"/>
                  </a:lnTo>
                  <a:lnTo>
                    <a:pt x="0" y="161924"/>
                  </a:lnTo>
                  <a:lnTo>
                    <a:pt x="2776854" y="161924"/>
                  </a:lnTo>
                  <a:lnTo>
                    <a:pt x="277685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5914390" cy="61722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4378960">
              <a:lnSpc>
                <a:spcPts val="1280"/>
              </a:lnSpc>
              <a:spcBef>
                <a:spcPts val="17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numpy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np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sigmoid(x):</a:t>
            </a:r>
            <a:endParaRPr sz="1100">
              <a:latin typeface="Courier New"/>
              <a:cs typeface="Courier New"/>
            </a:endParaRPr>
          </a:p>
          <a:p>
            <a:pPr marL="12700" marR="3619500" indent="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/(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+np.exp(-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x))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def</a:t>
            </a:r>
            <a:r>
              <a:rPr dirty="0" sz="1100" spc="-2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sigmoid_derivative(x):</a:t>
            </a:r>
            <a:endParaRPr sz="1100">
              <a:latin typeface="Courier New"/>
              <a:cs typeface="Courier New"/>
            </a:endParaRPr>
          </a:p>
          <a:p>
            <a:pPr marL="12700" marR="2774950" indent="336550">
              <a:lnSpc>
                <a:spcPts val="1280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return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x*(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-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x)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x=np.array([[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]])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y=np.array([[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]])</a:t>
            </a:r>
            <a:endParaRPr sz="1100">
              <a:latin typeface="Courier New"/>
              <a:cs typeface="Courier New"/>
            </a:endParaRPr>
          </a:p>
          <a:p>
            <a:pPr marL="12700" marR="4042410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input_layer_neurons=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hidden_layer_neurons=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4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output_layer_neurons=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epochs=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10000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learning_rate=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0.1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np.random.seed(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42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wh=np.random.uniform(size=(input_layer_neurons,hidden_layer_neurons)) bh=np.random.uniform(size=(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,hidden_layer_neurons)) wout=np.random.uniform(size=(hidden_layer_neurons,output_layer_neurons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))</a:t>
            </a:r>
            <a:endParaRPr sz="1100">
              <a:latin typeface="Courier New"/>
              <a:cs typeface="Courier New"/>
            </a:endParaRPr>
          </a:p>
          <a:p>
            <a:pPr marL="12700" marR="1433830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bout=np.random.uniform(size=(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,output_layer_neurons))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epoch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dirty="0" sz="1100" spc="-3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range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(epochs):</a:t>
            </a:r>
            <a:endParaRPr sz="1100">
              <a:latin typeface="Courier New"/>
              <a:cs typeface="Courier New"/>
            </a:endParaRPr>
          </a:p>
          <a:p>
            <a:pPr marL="348615" marR="844550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hidden_layer_input=np.dot(X,wh)+bh hidden_layer_output=sigmoid(hidden_layer_input) output_layer_input=np.dot(hidden_layer_output,wout)+bout output=sigmoid(output_layer_input)</a:t>
            </a:r>
            <a:endParaRPr sz="1100">
              <a:latin typeface="Courier New"/>
              <a:cs typeface="Courier New"/>
            </a:endParaRPr>
          </a:p>
          <a:p>
            <a:pPr marL="348615" marR="42227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error=y-output output_layer_gradient=sigmoid_derivative(output) d_output=error*output_layer_gradient hidden_layer_gradient=sigmoid_derivative(hidden_layer_output) d_hidden_layer=d_output.dot(wout.T)*hidden_layer_gradient wout+=hidden_layer_output.T.dot(d_output)*learning_rate bout+=np.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(d_output,axis=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,keepdims=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)*learning_rate wh+=X.T.dot(d_hidden_layer)*learning_rate bh+=np.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(d_hidden_layer,axis=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,keepdims=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)*learning_rate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if</a:t>
            </a:r>
            <a:r>
              <a:rPr dirty="0" sz="1100" spc="-2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epoch%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1000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==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endParaRPr sz="1100">
              <a:latin typeface="Courier New"/>
              <a:cs typeface="Courier New"/>
            </a:endParaRPr>
          </a:p>
          <a:p>
            <a:pPr marL="12700" marR="673735" indent="673100">
              <a:lnSpc>
                <a:spcPts val="1280"/>
              </a:lnSpc>
            </a:pP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FF5400"/>
                </a:solidFill>
                <a:latin typeface="Courier New"/>
                <a:cs typeface="Courier New"/>
              </a:rPr>
              <a:t>f"Epoch</a:t>
            </a:r>
            <a:r>
              <a:rPr dirty="0" sz="1100" spc="-140">
                <a:solidFill>
                  <a:srgbClr val="FF54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epoch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,Error: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{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np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.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mean(np.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abs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(error))</a:t>
            </a:r>
            <a:r>
              <a:rPr dirty="0" sz="1100" spc="-10">
                <a:solidFill>
                  <a:srgbClr val="3CADE8"/>
                </a:solidFill>
                <a:latin typeface="Courier New"/>
                <a:cs typeface="Courier New"/>
              </a:rPr>
              <a:t>}</a:t>
            </a:r>
            <a:r>
              <a:rPr dirty="0" sz="1100" spc="-10">
                <a:solidFill>
                  <a:srgbClr val="FF54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dirty="0" sz="110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"Final</a:t>
            </a:r>
            <a:r>
              <a:rPr dirty="0" sz="1100" spc="-10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predictions</a:t>
            </a:r>
            <a:r>
              <a:rPr dirty="0" sz="1100" spc="-10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after</a:t>
            </a:r>
            <a:r>
              <a:rPr dirty="0" sz="1100" spc="-10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training:"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(output)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0,Error:0.49914791405546904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7123430"/>
            <a:ext cx="295719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1000,Error:0.4989908274224632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7285990"/>
            <a:ext cx="304101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2000,Error:0.49392112204426847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7447812"/>
            <a:ext cx="30410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3000,Error:0.46086324847622706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7610371"/>
            <a:ext cx="30410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4000,Error:0.37081148754970517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7772931"/>
            <a:ext cx="30410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5000,Error:0.22936859341508165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7935492"/>
            <a:ext cx="30410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6000,Error:0.14117007926640454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8098052"/>
            <a:ext cx="30410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7000,Error:0.10187019467760634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8260612"/>
            <a:ext cx="30410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8000,Error:0.08085064924133509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8423171"/>
            <a:ext cx="3041015" cy="16383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Epoch</a:t>
            </a:r>
            <a:r>
              <a:rPr dirty="0" sz="1100" spc="-5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9000,Error:0.06790718296112103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8586469"/>
            <a:ext cx="277685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Final</a:t>
            </a:r>
            <a:r>
              <a:rPr dirty="0" sz="1100" spc="-8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predictions</a:t>
            </a:r>
            <a:r>
              <a:rPr dirty="0" sz="1100" spc="-7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after</a:t>
            </a:r>
            <a:r>
              <a:rPr dirty="0" sz="1100" spc="-75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training: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8749030"/>
            <a:ext cx="110680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 spc="-10">
                <a:latin typeface="Courier New"/>
                <a:cs typeface="Courier New"/>
              </a:rPr>
              <a:t>[[0.04690963]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8910852"/>
            <a:ext cx="1106805" cy="16319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40"/>
              </a:lnSpc>
            </a:pPr>
            <a:r>
              <a:rPr dirty="0" sz="1100" spc="-10">
                <a:latin typeface="Courier New"/>
                <a:cs typeface="Courier New"/>
              </a:rPr>
              <a:t>[0.95663392]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8360" y="914400"/>
            <a:ext cx="6076315" cy="8225155"/>
          </a:xfrm>
          <a:custGeom>
            <a:avLst/>
            <a:gdLst/>
            <a:ahLst/>
            <a:cxnLst/>
            <a:rect l="l" t="t" r="r" b="b"/>
            <a:pathLst>
              <a:path w="6076315" h="8225155">
                <a:moveTo>
                  <a:pt x="0" y="1904"/>
                </a:moveTo>
                <a:lnTo>
                  <a:pt x="6076315" y="1904"/>
                </a:lnTo>
              </a:path>
              <a:path w="6076315" h="8225155">
                <a:moveTo>
                  <a:pt x="6075045" y="0"/>
                </a:moveTo>
                <a:lnTo>
                  <a:pt x="6075045" y="6045835"/>
                </a:lnTo>
              </a:path>
              <a:path w="6076315" h="8225155">
                <a:moveTo>
                  <a:pt x="1905" y="6045835"/>
                </a:moveTo>
                <a:lnTo>
                  <a:pt x="1905" y="0"/>
                </a:lnTo>
              </a:path>
              <a:path w="6076315" h="8225155">
                <a:moveTo>
                  <a:pt x="6075045" y="5918835"/>
                </a:moveTo>
                <a:lnTo>
                  <a:pt x="6075045" y="8225155"/>
                </a:lnTo>
              </a:path>
              <a:path w="6076315" h="8225155">
                <a:moveTo>
                  <a:pt x="6076315" y="8223884"/>
                </a:moveTo>
                <a:lnTo>
                  <a:pt x="0" y="8223884"/>
                </a:lnTo>
              </a:path>
              <a:path w="6076315" h="8225155">
                <a:moveTo>
                  <a:pt x="1905" y="8225155"/>
                </a:moveTo>
                <a:lnTo>
                  <a:pt x="1905" y="5918835"/>
                </a:lnTo>
              </a:path>
              <a:path w="6076315" h="8225155">
                <a:moveTo>
                  <a:pt x="0" y="1904"/>
                </a:moveTo>
                <a:lnTo>
                  <a:pt x="6076315" y="1904"/>
                </a:lnTo>
              </a:path>
              <a:path w="6076315" h="8225155">
                <a:moveTo>
                  <a:pt x="6075045" y="0"/>
                </a:moveTo>
                <a:lnTo>
                  <a:pt x="6075045" y="6045835"/>
                </a:lnTo>
              </a:path>
              <a:path w="6076315" h="8225155">
                <a:moveTo>
                  <a:pt x="1905" y="6045835"/>
                </a:moveTo>
                <a:lnTo>
                  <a:pt x="1905" y="0"/>
                </a:lnTo>
              </a:path>
              <a:path w="6076315" h="8225155">
                <a:moveTo>
                  <a:pt x="6075045" y="5918835"/>
                </a:moveTo>
                <a:lnTo>
                  <a:pt x="6075045" y="8225155"/>
                </a:lnTo>
              </a:path>
              <a:path w="6076315" h="8225155">
                <a:moveTo>
                  <a:pt x="6076315" y="8223884"/>
                </a:moveTo>
                <a:lnTo>
                  <a:pt x="0" y="8223884"/>
                </a:lnTo>
              </a:path>
              <a:path w="6076315" h="8225155">
                <a:moveTo>
                  <a:pt x="1905" y="8225155"/>
                </a:moveTo>
                <a:lnTo>
                  <a:pt x="1905" y="591883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734060"/>
            <a:chOff x="847725" y="913764"/>
            <a:chExt cx="6076950" cy="73406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734060"/>
            </a:xfrm>
            <a:custGeom>
              <a:avLst/>
              <a:gdLst/>
              <a:ahLst/>
              <a:cxnLst/>
              <a:rect l="l" t="t" r="r" b="b"/>
              <a:pathLst>
                <a:path w="6076950" h="734060">
                  <a:moveTo>
                    <a:pt x="6076950" y="0"/>
                  </a:moveTo>
                  <a:lnTo>
                    <a:pt x="0" y="0"/>
                  </a:lnTo>
                  <a:lnTo>
                    <a:pt x="0" y="391795"/>
                  </a:lnTo>
                  <a:lnTo>
                    <a:pt x="0" y="392430"/>
                  </a:lnTo>
                  <a:lnTo>
                    <a:pt x="0" y="734060"/>
                  </a:lnTo>
                  <a:lnTo>
                    <a:pt x="6076950" y="734060"/>
                  </a:lnTo>
                  <a:lnTo>
                    <a:pt x="6076950" y="392430"/>
                  </a:lnTo>
                  <a:lnTo>
                    <a:pt x="6076950" y="39179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1177925" cy="324485"/>
            </a:xfrm>
            <a:custGeom>
              <a:avLst/>
              <a:gdLst/>
              <a:ahLst/>
              <a:cxnLst/>
              <a:rect l="l" t="t" r="r" b="b"/>
              <a:pathLst>
                <a:path w="1177925" h="324484">
                  <a:moveTo>
                    <a:pt x="109410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1094105" y="161925"/>
                  </a:lnTo>
                  <a:lnTo>
                    <a:pt x="1094105" y="0"/>
                  </a:lnTo>
                  <a:close/>
                </a:path>
                <a:path w="1177925" h="324484">
                  <a:moveTo>
                    <a:pt x="117792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1177925" y="324485"/>
                  </a:lnTo>
                  <a:lnTo>
                    <a:pt x="1177925" y="1625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850264" y="916305"/>
            <a:ext cx="6073140" cy="73025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wrap="square" lIns="0" tIns="54610" rIns="0" bIns="0" rtlCol="0" vert="horz">
            <a:spAutoFit/>
          </a:bodyPr>
          <a:lstStyle/>
          <a:p>
            <a:pPr marL="149225">
              <a:lnSpc>
                <a:spcPts val="1300"/>
              </a:lnSpc>
              <a:spcBef>
                <a:spcPts val="430"/>
              </a:spcBef>
            </a:pPr>
            <a:r>
              <a:rPr dirty="0" sz="1100" spc="-10">
                <a:latin typeface="Courier New"/>
                <a:cs typeface="Courier New"/>
              </a:rPr>
              <a:t>[0.92548675]</a:t>
            </a:r>
            <a:endParaRPr sz="1100">
              <a:latin typeface="Courier New"/>
              <a:cs typeface="Courier New"/>
            </a:endParaRPr>
          </a:p>
          <a:p>
            <a:pPr marL="149225">
              <a:lnSpc>
                <a:spcPts val="1300"/>
              </a:lnSpc>
            </a:pPr>
            <a:r>
              <a:rPr dirty="0" sz="1100" spc="-10">
                <a:latin typeface="Courier New"/>
                <a:cs typeface="Courier New"/>
              </a:rPr>
              <a:t>[0.07177571]]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7827009"/>
          </a:xfrm>
          <a:custGeom>
            <a:avLst/>
            <a:gdLst/>
            <a:ahLst/>
            <a:cxnLst/>
            <a:rect l="l" t="t" r="r" b="b"/>
            <a:pathLst>
              <a:path w="6076950" h="7827009">
                <a:moveTo>
                  <a:pt x="6076950" y="0"/>
                </a:moveTo>
                <a:lnTo>
                  <a:pt x="0" y="0"/>
                </a:lnTo>
                <a:lnTo>
                  <a:pt x="0" y="716915"/>
                </a:lnTo>
                <a:lnTo>
                  <a:pt x="0" y="717550"/>
                </a:lnTo>
                <a:lnTo>
                  <a:pt x="0" y="7827010"/>
                </a:lnTo>
                <a:lnTo>
                  <a:pt x="6076950" y="7827010"/>
                </a:lnTo>
                <a:lnTo>
                  <a:pt x="6076950" y="71691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5409565" cy="3210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5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numpy</a:t>
            </a:r>
            <a:r>
              <a:rPr dirty="0" sz="1100" spc="-4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4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np</a:t>
            </a:r>
            <a:endParaRPr sz="1100">
              <a:latin typeface="Courier New"/>
              <a:cs typeface="Courier New"/>
            </a:endParaRPr>
          </a:p>
          <a:p>
            <a:pPr marL="12700" marR="2780030">
              <a:lnSpc>
                <a:spcPts val="1280"/>
              </a:lnSpc>
              <a:spcBef>
                <a:spcPts val="55"/>
              </a:spcBef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matplotlib.pyplot</a:t>
            </a:r>
            <a:r>
              <a:rPr dirty="0" sz="1100" spc="-3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dirty="0" sz="1100" spc="-3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plt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8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sklearn.svm</a:t>
            </a:r>
            <a:r>
              <a:rPr dirty="0" sz="1100" spc="-7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7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SVC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dirty="0" sz="1100" spc="-9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sklearn.metrics</a:t>
            </a:r>
            <a:r>
              <a:rPr dirty="0" sz="1100" spc="-8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dirty="0" sz="1100" spc="-95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classification_report,accuracy_score</a:t>
            </a:r>
            <a:endParaRPr sz="1100">
              <a:latin typeface="Courier New"/>
              <a:cs typeface="Courier New"/>
            </a:endParaRPr>
          </a:p>
          <a:p>
            <a:pPr marL="348615" marR="4040504" indent="-336550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data=np.array([ 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25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3.0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3.5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4.0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1.0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4.5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1.5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dirty="0" sz="1100" spc="-25">
                <a:solidFill>
                  <a:srgbClr val="1E1B1A"/>
                </a:solidFill>
                <a:latin typeface="Courier New"/>
                <a:cs typeface="Courier New"/>
              </a:rPr>
              <a:t>])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96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X=data[:,: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 marR="2863215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y=data[:,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 svm_model=SVC(kernel=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'linear'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svm_model.fit(X,y)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4288790"/>
            <a:ext cx="1694814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 spc="-10">
                <a:latin typeface="Courier New"/>
                <a:cs typeface="Courier New"/>
              </a:rPr>
              <a:t>SVC(kernel='linear')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4554854"/>
            <a:ext cx="5662930" cy="518159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y_pred=svm_model.predict(X)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"Accuracy:"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,accuracy_score(y,y_pred))</a:t>
            </a:r>
            <a:r>
              <a:rPr dirty="0" sz="1100" spc="500">
                <a:solidFill>
                  <a:srgbClr val="1E1B1A"/>
                </a:solidFill>
                <a:latin typeface="Courier New"/>
                <a:cs typeface="Courier New"/>
              </a:rPr>
              <a:t>  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Classification</a:t>
            </a:r>
            <a:r>
              <a:rPr dirty="0" sz="1100" spc="-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Report:</a:t>
            </a:r>
            <a:r>
              <a:rPr dirty="0" sz="1100" spc="-10">
                <a:solidFill>
                  <a:srgbClr val="914B9C"/>
                </a:solidFill>
                <a:latin typeface="Courier New"/>
                <a:cs typeface="Courier New"/>
              </a:rPr>
              <a:t>\n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,classification_report(y,y_pred))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5193029"/>
            <a:ext cx="1094105" cy="161925"/>
          </a:xfrm>
          <a:custGeom>
            <a:avLst/>
            <a:gdLst/>
            <a:ahLst/>
            <a:cxnLst/>
            <a:rect l="l" t="t" r="r" b="b"/>
            <a:pathLst>
              <a:path w="1094105" h="161925">
                <a:moveTo>
                  <a:pt x="1094105" y="0"/>
                </a:moveTo>
                <a:lnTo>
                  <a:pt x="0" y="0"/>
                </a:lnTo>
                <a:lnTo>
                  <a:pt x="0" y="161925"/>
                </a:lnTo>
                <a:lnTo>
                  <a:pt x="1094105" y="161925"/>
                </a:lnTo>
                <a:lnTo>
                  <a:pt x="10941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5502909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5976619"/>
            <a:ext cx="4459605" cy="324485"/>
          </a:xfrm>
          <a:custGeom>
            <a:avLst/>
            <a:gdLst/>
            <a:ahLst/>
            <a:cxnLst/>
            <a:rect l="l" t="t" r="r" b="b"/>
            <a:pathLst>
              <a:path w="4459605" h="324485">
                <a:moveTo>
                  <a:pt x="445960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4459605" y="324485"/>
                </a:lnTo>
                <a:lnTo>
                  <a:pt x="4459605" y="162560"/>
                </a:lnTo>
                <a:close/>
              </a:path>
              <a:path w="4459605" h="324485">
                <a:moveTo>
                  <a:pt x="4459605" y="0"/>
                </a:moveTo>
                <a:lnTo>
                  <a:pt x="0" y="0"/>
                </a:lnTo>
                <a:lnTo>
                  <a:pt x="0" y="161925"/>
                </a:lnTo>
                <a:lnTo>
                  <a:pt x="4459605" y="161925"/>
                </a:lnTo>
                <a:lnTo>
                  <a:pt x="44596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6449059"/>
            <a:ext cx="4459605" cy="487045"/>
          </a:xfrm>
          <a:custGeom>
            <a:avLst/>
            <a:gdLst/>
            <a:ahLst/>
            <a:cxnLst/>
            <a:rect l="l" t="t" r="r" b="b"/>
            <a:pathLst>
              <a:path w="4459605" h="487045">
                <a:moveTo>
                  <a:pt x="445960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4459605" y="487045"/>
                </a:lnTo>
                <a:lnTo>
                  <a:pt x="4459605" y="325120"/>
                </a:lnTo>
                <a:close/>
              </a:path>
              <a:path w="4459605" h="487045">
                <a:moveTo>
                  <a:pt x="4459605" y="162560"/>
                </a:moveTo>
                <a:lnTo>
                  <a:pt x="0" y="162560"/>
                </a:lnTo>
                <a:lnTo>
                  <a:pt x="0" y="324497"/>
                </a:lnTo>
                <a:lnTo>
                  <a:pt x="4459605" y="324497"/>
                </a:lnTo>
                <a:lnTo>
                  <a:pt x="4459605" y="162560"/>
                </a:lnTo>
                <a:close/>
              </a:path>
              <a:path w="4459605" h="487045">
                <a:moveTo>
                  <a:pt x="4459605" y="0"/>
                </a:moveTo>
                <a:lnTo>
                  <a:pt x="0" y="0"/>
                </a:lnTo>
                <a:lnTo>
                  <a:pt x="0" y="161925"/>
                </a:lnTo>
                <a:lnTo>
                  <a:pt x="4459605" y="161925"/>
                </a:lnTo>
                <a:lnTo>
                  <a:pt x="44596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14400" y="5193029"/>
          <a:ext cx="4619625" cy="1741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0470"/>
                <a:gridCol w="967105"/>
                <a:gridCol w="756919"/>
                <a:gridCol w="883284"/>
                <a:gridCol w="715645"/>
              </a:tblGrid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Accuracy:</a:t>
                      </a:r>
                      <a:r>
                        <a:rPr dirty="0" sz="1100" spc="-10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Courier New"/>
                          <a:cs typeface="Courier New"/>
                        </a:rPr>
                        <a:t>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gridSpan="3"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3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Classification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Report: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precision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3820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recall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f1-</a:t>
                      </a:r>
                      <a:r>
                        <a:rPr dirty="0" sz="1100" spc="-10">
                          <a:latin typeface="Courier New"/>
                          <a:cs typeface="Courier New"/>
                        </a:rPr>
                        <a:t>score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support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75755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3820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757555">
                        <a:lnSpc>
                          <a:spcPts val="1180"/>
                        </a:lnSpc>
                      </a:pPr>
                      <a:r>
                        <a:rPr dirty="0" sz="1100" spc="-25">
                          <a:latin typeface="Courier New"/>
                          <a:cs typeface="Courier New"/>
                        </a:rPr>
                        <a:t>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3820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4F4F4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337185">
                        <a:lnSpc>
                          <a:spcPts val="1180"/>
                        </a:lnSpc>
                      </a:pPr>
                      <a:r>
                        <a:rPr dirty="0" sz="1100" spc="-10">
                          <a:latin typeface="Courier New"/>
                          <a:cs typeface="Courier New"/>
                        </a:rPr>
                        <a:t>accuracy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marL="253365">
                        <a:lnSpc>
                          <a:spcPts val="1180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macro</a:t>
                      </a:r>
                      <a:r>
                        <a:rPr dirty="0" sz="1100" spc="-5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Courier New"/>
                          <a:cs typeface="Courier New"/>
                        </a:rPr>
                        <a:t>avg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3820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ts val="1180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dirty="0" sz="1100">
                          <a:latin typeface="Courier New"/>
                          <a:cs typeface="Courier New"/>
                        </a:rPr>
                        <a:t>weighted</a:t>
                      </a:r>
                      <a:r>
                        <a:rPr dirty="0" sz="1100" spc="-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>
                          <a:latin typeface="Courier New"/>
                          <a:cs typeface="Courier New"/>
                        </a:rPr>
                        <a:t>avg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3820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75"/>
                        </a:lnSpc>
                      </a:pPr>
                      <a:r>
                        <a:rPr dirty="0" sz="1100" spc="-20">
                          <a:latin typeface="Courier New"/>
                          <a:cs typeface="Courier New"/>
                        </a:rPr>
                        <a:t>1.00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ts val="1175"/>
                        </a:lnSpc>
                      </a:pPr>
                      <a:r>
                        <a:rPr dirty="0" sz="1100" spc="-50">
                          <a:latin typeface="Courier New"/>
                          <a:cs typeface="Courier New"/>
                        </a:rPr>
                        <a:t>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02969" y="7188834"/>
            <a:ext cx="5915660" cy="149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x_min,x_max=X[:,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min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()-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,X[:,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max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()+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y_min,y_max=X[:,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min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()-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,X[:,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max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()+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xx,yy=np.meshgrid(np.arange(x_min,x_max,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0.01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),np.arange(y_min,y_max,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 </a:t>
            </a:r>
            <a:r>
              <a:rPr dirty="0" sz="1100" spc="-20">
                <a:solidFill>
                  <a:srgbClr val="A95C00"/>
                </a:solidFill>
                <a:latin typeface="Courier New"/>
                <a:cs typeface="Courier New"/>
              </a:rPr>
              <a:t>01</a:t>
            </a:r>
            <a:r>
              <a:rPr dirty="0" sz="1100" spc="-20">
                <a:solidFill>
                  <a:srgbClr val="1E1B1A"/>
                </a:solidFill>
                <a:latin typeface="Courier New"/>
                <a:cs typeface="Courier New"/>
              </a:rPr>
              <a:t>))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"xx="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,xx)</a:t>
            </a:r>
            <a:endParaRPr sz="1100">
              <a:latin typeface="Courier New"/>
              <a:cs typeface="Courier New"/>
            </a:endParaRPr>
          </a:p>
          <a:p>
            <a:pPr marL="12700" marR="1773555">
              <a:lnSpc>
                <a:spcPts val="1280"/>
              </a:lnSpc>
              <a:spcBef>
                <a:spcPts val="55"/>
              </a:spcBef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"yy="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,yy) Z=svm_model.predict(np.c_[xx.ravel(),yy.ravel()]) Z=Z.reshape(xx.shape)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"Z="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,Z)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8360" y="914400"/>
            <a:ext cx="6076315" cy="7826375"/>
          </a:xfrm>
          <a:custGeom>
            <a:avLst/>
            <a:gdLst/>
            <a:ahLst/>
            <a:cxnLst/>
            <a:rect l="l" t="t" r="r" b="b"/>
            <a:pathLst>
              <a:path w="6076315" h="7826375">
                <a:moveTo>
                  <a:pt x="0" y="1904"/>
                </a:moveTo>
                <a:lnTo>
                  <a:pt x="6076315" y="1904"/>
                </a:lnTo>
              </a:path>
              <a:path w="6076315" h="7826375">
                <a:moveTo>
                  <a:pt x="6075045" y="0"/>
                </a:moveTo>
                <a:lnTo>
                  <a:pt x="6075045" y="843915"/>
                </a:lnTo>
              </a:path>
              <a:path w="6076315" h="7826375">
                <a:moveTo>
                  <a:pt x="1905" y="843915"/>
                </a:moveTo>
                <a:lnTo>
                  <a:pt x="1905" y="0"/>
                </a:lnTo>
              </a:path>
              <a:path w="6076315" h="7826375">
                <a:moveTo>
                  <a:pt x="6075045" y="716915"/>
                </a:moveTo>
                <a:lnTo>
                  <a:pt x="6075045" y="2596515"/>
                </a:lnTo>
              </a:path>
              <a:path w="6076315" h="7826375">
                <a:moveTo>
                  <a:pt x="1905" y="2596515"/>
                </a:moveTo>
                <a:lnTo>
                  <a:pt x="1905" y="716915"/>
                </a:lnTo>
              </a:path>
              <a:path w="6076315" h="7826375">
                <a:moveTo>
                  <a:pt x="6075045" y="2469515"/>
                </a:moveTo>
                <a:lnTo>
                  <a:pt x="6075045" y="3373754"/>
                </a:lnTo>
              </a:path>
              <a:path w="6076315" h="7826375">
                <a:moveTo>
                  <a:pt x="1905" y="3373754"/>
                </a:moveTo>
                <a:lnTo>
                  <a:pt x="1905" y="2469515"/>
                </a:lnTo>
              </a:path>
              <a:path w="6076315" h="7826375">
                <a:moveTo>
                  <a:pt x="6075045" y="3246754"/>
                </a:moveTo>
                <a:lnTo>
                  <a:pt x="6075045" y="3663315"/>
                </a:lnTo>
              </a:path>
              <a:path w="6076315" h="7826375">
                <a:moveTo>
                  <a:pt x="1905" y="3663315"/>
                </a:moveTo>
                <a:lnTo>
                  <a:pt x="1905" y="3246754"/>
                </a:lnTo>
              </a:path>
              <a:path w="6076315" h="7826375">
                <a:moveTo>
                  <a:pt x="6075045" y="3536315"/>
                </a:moveTo>
                <a:lnTo>
                  <a:pt x="6075045" y="4277995"/>
                </a:lnTo>
              </a:path>
              <a:path w="6076315" h="7826375">
                <a:moveTo>
                  <a:pt x="1905" y="4277995"/>
                </a:moveTo>
                <a:lnTo>
                  <a:pt x="1905" y="3536315"/>
                </a:lnTo>
              </a:path>
              <a:path w="6076315" h="7826375">
                <a:moveTo>
                  <a:pt x="6075045" y="4150995"/>
                </a:moveTo>
                <a:lnTo>
                  <a:pt x="6075045" y="6297295"/>
                </a:lnTo>
              </a:path>
              <a:path w="6076315" h="7826375">
                <a:moveTo>
                  <a:pt x="1905" y="6297295"/>
                </a:moveTo>
                <a:lnTo>
                  <a:pt x="1905" y="4150995"/>
                </a:lnTo>
              </a:path>
              <a:path w="6076315" h="7826375">
                <a:moveTo>
                  <a:pt x="6075045" y="6170295"/>
                </a:moveTo>
                <a:lnTo>
                  <a:pt x="6075045" y="7826375"/>
                </a:lnTo>
              </a:path>
              <a:path w="6076315" h="7826375">
                <a:moveTo>
                  <a:pt x="6076315" y="7825105"/>
                </a:moveTo>
                <a:lnTo>
                  <a:pt x="0" y="7825105"/>
                </a:lnTo>
              </a:path>
              <a:path w="6076315" h="7826375">
                <a:moveTo>
                  <a:pt x="1905" y="7826375"/>
                </a:moveTo>
                <a:lnTo>
                  <a:pt x="1905" y="6170295"/>
                </a:lnTo>
              </a:path>
              <a:path w="6076315" h="7826375">
                <a:moveTo>
                  <a:pt x="0" y="1904"/>
                </a:moveTo>
                <a:lnTo>
                  <a:pt x="6076315" y="1904"/>
                </a:lnTo>
              </a:path>
              <a:path w="6076315" h="7826375">
                <a:moveTo>
                  <a:pt x="6075045" y="0"/>
                </a:moveTo>
                <a:lnTo>
                  <a:pt x="6075045" y="843915"/>
                </a:lnTo>
              </a:path>
              <a:path w="6076315" h="7826375">
                <a:moveTo>
                  <a:pt x="1905" y="843915"/>
                </a:moveTo>
                <a:lnTo>
                  <a:pt x="1905" y="0"/>
                </a:lnTo>
              </a:path>
              <a:path w="6076315" h="7826375">
                <a:moveTo>
                  <a:pt x="6075045" y="716915"/>
                </a:moveTo>
                <a:lnTo>
                  <a:pt x="6075045" y="2596515"/>
                </a:lnTo>
              </a:path>
              <a:path w="6076315" h="7826375">
                <a:moveTo>
                  <a:pt x="1905" y="2596515"/>
                </a:moveTo>
                <a:lnTo>
                  <a:pt x="1905" y="716915"/>
                </a:lnTo>
              </a:path>
              <a:path w="6076315" h="7826375">
                <a:moveTo>
                  <a:pt x="6075045" y="2469515"/>
                </a:moveTo>
                <a:lnTo>
                  <a:pt x="6075045" y="3373754"/>
                </a:lnTo>
              </a:path>
              <a:path w="6076315" h="7826375">
                <a:moveTo>
                  <a:pt x="1905" y="3373754"/>
                </a:moveTo>
                <a:lnTo>
                  <a:pt x="1905" y="2469515"/>
                </a:lnTo>
              </a:path>
              <a:path w="6076315" h="7826375">
                <a:moveTo>
                  <a:pt x="6075045" y="3246754"/>
                </a:moveTo>
                <a:lnTo>
                  <a:pt x="6075045" y="3663315"/>
                </a:lnTo>
              </a:path>
              <a:path w="6076315" h="7826375">
                <a:moveTo>
                  <a:pt x="1905" y="3663315"/>
                </a:moveTo>
                <a:lnTo>
                  <a:pt x="1905" y="3246754"/>
                </a:lnTo>
              </a:path>
              <a:path w="6076315" h="7826375">
                <a:moveTo>
                  <a:pt x="6075045" y="3536315"/>
                </a:moveTo>
                <a:lnTo>
                  <a:pt x="6075045" y="4277995"/>
                </a:lnTo>
              </a:path>
              <a:path w="6076315" h="7826375">
                <a:moveTo>
                  <a:pt x="1905" y="4277995"/>
                </a:moveTo>
                <a:lnTo>
                  <a:pt x="1905" y="3536315"/>
                </a:lnTo>
              </a:path>
              <a:path w="6076315" h="7826375">
                <a:moveTo>
                  <a:pt x="6075045" y="4150995"/>
                </a:moveTo>
                <a:lnTo>
                  <a:pt x="6075045" y="6297295"/>
                </a:lnTo>
              </a:path>
              <a:path w="6076315" h="7826375">
                <a:moveTo>
                  <a:pt x="1905" y="6297295"/>
                </a:moveTo>
                <a:lnTo>
                  <a:pt x="1905" y="4150995"/>
                </a:lnTo>
              </a:path>
              <a:path w="6076315" h="7826375">
                <a:moveTo>
                  <a:pt x="6075045" y="6170295"/>
                </a:moveTo>
                <a:lnTo>
                  <a:pt x="6075045" y="7826375"/>
                </a:lnTo>
              </a:path>
              <a:path w="6076315" h="7826375">
                <a:moveTo>
                  <a:pt x="6076315" y="7825105"/>
                </a:moveTo>
                <a:lnTo>
                  <a:pt x="0" y="7825105"/>
                </a:lnTo>
              </a:path>
              <a:path w="6076315" h="7826375">
                <a:moveTo>
                  <a:pt x="1905" y="7826375"/>
                </a:moveTo>
                <a:lnTo>
                  <a:pt x="1905" y="617029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4812030"/>
            <a:chOff x="847725" y="913764"/>
            <a:chExt cx="6076950" cy="481203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4812030"/>
            </a:xfrm>
            <a:custGeom>
              <a:avLst/>
              <a:gdLst/>
              <a:ahLst/>
              <a:cxnLst/>
              <a:rect l="l" t="t" r="r" b="b"/>
              <a:pathLst>
                <a:path w="6076950" h="4812030">
                  <a:moveTo>
                    <a:pt x="6076950" y="0"/>
                  </a:moveTo>
                  <a:lnTo>
                    <a:pt x="0" y="0"/>
                  </a:lnTo>
                  <a:lnTo>
                    <a:pt x="0" y="3480435"/>
                  </a:lnTo>
                  <a:lnTo>
                    <a:pt x="0" y="3481070"/>
                  </a:lnTo>
                  <a:lnTo>
                    <a:pt x="0" y="4812030"/>
                  </a:lnTo>
                  <a:lnTo>
                    <a:pt x="6076950" y="4812030"/>
                  </a:lnTo>
                  <a:lnTo>
                    <a:pt x="6076950" y="3481070"/>
                  </a:lnTo>
                  <a:lnTo>
                    <a:pt x="6076950" y="348043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3364865" cy="161925"/>
            </a:xfrm>
            <a:custGeom>
              <a:avLst/>
              <a:gdLst/>
              <a:ahLst/>
              <a:cxnLst/>
              <a:rect l="l" t="t" r="r" b="b"/>
              <a:pathLst>
                <a:path w="3364865" h="161925">
                  <a:moveTo>
                    <a:pt x="336486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3364865" y="161925"/>
                  </a:lnTo>
                  <a:lnTo>
                    <a:pt x="336486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338962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260" algn="l"/>
              </a:tabLst>
            </a:pPr>
            <a:r>
              <a:rPr dirty="0" sz="1100">
                <a:latin typeface="Courier New"/>
                <a:cs typeface="Courier New"/>
              </a:rPr>
              <a:t>xx=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[[0.</a:t>
            </a:r>
            <a:r>
              <a:rPr dirty="0" sz="1100">
                <a:latin typeface="Courier New"/>
                <a:cs typeface="Courier New"/>
              </a:rPr>
              <a:t>	0.01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0.02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5.47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5.48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5.49]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144269"/>
            <a:ext cx="304101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589280" algn="l"/>
              </a:tabLst>
            </a:pPr>
            <a:r>
              <a:rPr dirty="0" sz="1100" spc="-25">
                <a:latin typeface="Courier New"/>
                <a:cs typeface="Courier New"/>
              </a:rPr>
              <a:t>[0.</a:t>
            </a:r>
            <a:r>
              <a:rPr dirty="0" sz="1100">
                <a:latin typeface="Courier New"/>
                <a:cs typeface="Courier New"/>
              </a:rPr>
              <a:t>	0.01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0.02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5.47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5.48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5.49]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306092"/>
            <a:ext cx="3041015" cy="16383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40"/>
              </a:lnSpc>
              <a:tabLst>
                <a:tab pos="589280" algn="l"/>
              </a:tabLst>
            </a:pPr>
            <a:r>
              <a:rPr dirty="0" sz="1100" spc="-25">
                <a:latin typeface="Courier New"/>
                <a:cs typeface="Courier New"/>
              </a:rPr>
              <a:t>[0.</a:t>
            </a:r>
            <a:r>
              <a:rPr dirty="0" sz="1100">
                <a:latin typeface="Courier New"/>
                <a:cs typeface="Courier New"/>
              </a:rPr>
              <a:t>	0.01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0.02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5.47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5.48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5.49]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469389"/>
            <a:ext cx="3486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 spc="-25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631950"/>
            <a:ext cx="304101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589280" algn="l"/>
              </a:tabLst>
            </a:pPr>
            <a:r>
              <a:rPr dirty="0" sz="1100" spc="-25">
                <a:latin typeface="Courier New"/>
                <a:cs typeface="Courier New"/>
              </a:rPr>
              <a:t>[0.</a:t>
            </a:r>
            <a:r>
              <a:rPr dirty="0" sz="1100">
                <a:latin typeface="Courier New"/>
                <a:cs typeface="Courier New"/>
              </a:rPr>
              <a:t>	0.01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0.02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5.47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5.48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5.49]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1793772"/>
            <a:ext cx="3041015" cy="16383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40"/>
              </a:lnSpc>
              <a:tabLst>
                <a:tab pos="589280" algn="l"/>
              </a:tabLst>
            </a:pPr>
            <a:r>
              <a:rPr dirty="0" sz="1100" spc="-25">
                <a:latin typeface="Courier New"/>
                <a:cs typeface="Courier New"/>
              </a:rPr>
              <a:t>[0.</a:t>
            </a:r>
            <a:r>
              <a:rPr dirty="0" sz="1100">
                <a:latin typeface="Courier New"/>
                <a:cs typeface="Courier New"/>
              </a:rPr>
              <a:t>	0.01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0.02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5.47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5.48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5.49]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1957070"/>
            <a:ext cx="311340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589280" algn="l"/>
              </a:tabLst>
            </a:pPr>
            <a:r>
              <a:rPr dirty="0" sz="1100" spc="-25">
                <a:latin typeface="Courier New"/>
                <a:cs typeface="Courier New"/>
              </a:rPr>
              <a:t>[0.</a:t>
            </a:r>
            <a:r>
              <a:rPr dirty="0" sz="1100">
                <a:latin typeface="Courier New"/>
                <a:cs typeface="Courier New"/>
              </a:rPr>
              <a:t>	0.01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0.02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5.47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5.48</a:t>
            </a:r>
            <a:r>
              <a:rPr dirty="0" sz="1100" spc="-40">
                <a:latin typeface="Courier New"/>
                <a:cs typeface="Courier New"/>
              </a:rPr>
              <a:t> </a:t>
            </a:r>
            <a:r>
              <a:rPr dirty="0" sz="1100" spc="-10">
                <a:latin typeface="Courier New"/>
                <a:cs typeface="Courier New"/>
              </a:rPr>
              <a:t>5.49]]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119629"/>
            <a:ext cx="387032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  <a:tabLst>
                <a:tab pos="1010285" algn="l"/>
                <a:tab pos="1514475" algn="l"/>
                <a:tab pos="2019300" algn="l"/>
                <a:tab pos="2860040" algn="l"/>
                <a:tab pos="3364865" algn="l"/>
              </a:tabLst>
            </a:pPr>
            <a:r>
              <a:rPr dirty="0" sz="1100">
                <a:latin typeface="Courier New"/>
                <a:cs typeface="Courier New"/>
              </a:rPr>
              <a:t>yy=</a:t>
            </a:r>
            <a:r>
              <a:rPr dirty="0" sz="1100" spc="-5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[[-</a:t>
            </a:r>
            <a:r>
              <a:rPr dirty="0" sz="1100" spc="-25">
                <a:latin typeface="Courier New"/>
                <a:cs typeface="Courier New"/>
              </a:rPr>
              <a:t>0.5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 spc="-25">
                <a:latin typeface="Courier New"/>
                <a:cs typeface="Courier New"/>
              </a:rPr>
              <a:t>0.5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 spc="-25">
                <a:latin typeface="Courier New"/>
                <a:cs typeface="Courier New"/>
              </a:rPr>
              <a:t>0.5</a:t>
            </a:r>
            <a:r>
              <a:rPr dirty="0" sz="1100">
                <a:latin typeface="Courier New"/>
                <a:cs typeface="Courier New"/>
              </a:rPr>
              <a:t>	...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 spc="-25">
                <a:latin typeface="Courier New"/>
                <a:cs typeface="Courier New"/>
              </a:rPr>
              <a:t>0.5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 spc="-25">
                <a:latin typeface="Courier New"/>
                <a:cs typeface="Courier New"/>
              </a:rPr>
              <a:t>0.5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0.5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 spc="-50"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2282189"/>
            <a:ext cx="3533775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 spc="-20">
                <a:latin typeface="Courier New"/>
                <a:cs typeface="Courier New"/>
              </a:rPr>
              <a:t>[-</a:t>
            </a:r>
            <a:r>
              <a:rPr dirty="0" sz="1100">
                <a:latin typeface="Courier New"/>
                <a:cs typeface="Courier New"/>
              </a:rPr>
              <a:t>0.49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0.49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0.49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0.49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0.49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 spc="-10">
                <a:latin typeface="Courier New"/>
                <a:cs typeface="Courier New"/>
              </a:rPr>
              <a:t>0.49]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2444012"/>
            <a:ext cx="3533775" cy="16383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40"/>
              </a:lnSpc>
            </a:pPr>
            <a:r>
              <a:rPr dirty="0" sz="1100" spc="-20">
                <a:latin typeface="Courier New"/>
                <a:cs typeface="Courier New"/>
              </a:rPr>
              <a:t>[-</a:t>
            </a:r>
            <a:r>
              <a:rPr dirty="0" sz="1100">
                <a:latin typeface="Courier New"/>
                <a:cs typeface="Courier New"/>
              </a:rPr>
              <a:t>0.48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0.48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0.48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0.48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>
                <a:latin typeface="Courier New"/>
                <a:cs typeface="Courier New"/>
              </a:rPr>
              <a:t>0.48</a:t>
            </a:r>
            <a:r>
              <a:rPr dirty="0" sz="1100" spc="-3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-</a:t>
            </a:r>
            <a:r>
              <a:rPr dirty="0" sz="1100" spc="-10">
                <a:latin typeface="Courier New"/>
                <a:cs typeface="Courier New"/>
              </a:rPr>
              <a:t>0.48]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2607310"/>
            <a:ext cx="3486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 spc="-25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2769870"/>
            <a:ext cx="3533775" cy="32512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15"/>
              </a:lnSpc>
              <a:tabLst>
                <a:tab pos="757555" algn="l"/>
                <a:tab pos="1262380" algn="l"/>
                <a:tab pos="2103120" algn="l"/>
                <a:tab pos="2607945" algn="l"/>
                <a:tab pos="3112770" algn="l"/>
              </a:tabLst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3.47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3.47</a:t>
            </a:r>
            <a:r>
              <a:rPr dirty="0" sz="1100">
                <a:latin typeface="Courier New"/>
                <a:cs typeface="Courier New"/>
              </a:rPr>
              <a:t>	3.47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...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3.47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3.47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3.47]</a:t>
            </a:r>
            <a:endParaRPr sz="1100">
              <a:latin typeface="Courier New"/>
              <a:cs typeface="Courier New"/>
            </a:endParaRPr>
          </a:p>
          <a:p>
            <a:pPr marL="85090">
              <a:lnSpc>
                <a:spcPts val="1300"/>
              </a:lnSpc>
              <a:tabLst>
                <a:tab pos="757555" algn="l"/>
                <a:tab pos="1262380" algn="l"/>
                <a:tab pos="2103120" algn="l"/>
                <a:tab pos="2607945" algn="l"/>
                <a:tab pos="3112770" algn="l"/>
              </a:tabLst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3.48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3.48</a:t>
            </a:r>
            <a:r>
              <a:rPr dirty="0" sz="1100">
                <a:latin typeface="Courier New"/>
                <a:cs typeface="Courier New"/>
              </a:rPr>
              <a:t>	3.48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...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3.48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3.48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3.48]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3094989"/>
            <a:ext cx="361759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  <a:tabLst>
                <a:tab pos="757555" algn="l"/>
                <a:tab pos="1262380" algn="l"/>
                <a:tab pos="2103120" algn="l"/>
                <a:tab pos="2607945" algn="l"/>
                <a:tab pos="3112770" algn="l"/>
              </a:tabLst>
            </a:pPr>
            <a:r>
              <a:rPr dirty="0" sz="1100">
                <a:latin typeface="Courier New"/>
                <a:cs typeface="Courier New"/>
              </a:rPr>
              <a:t>[</a:t>
            </a:r>
            <a:r>
              <a:rPr dirty="0" sz="1100" spc="-10">
                <a:latin typeface="Courier New"/>
                <a:cs typeface="Courier New"/>
              </a:rPr>
              <a:t> </a:t>
            </a:r>
            <a:r>
              <a:rPr dirty="0" sz="1100" spc="-20">
                <a:latin typeface="Courier New"/>
                <a:cs typeface="Courier New"/>
              </a:rPr>
              <a:t>3.49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3.49</a:t>
            </a:r>
            <a:r>
              <a:rPr dirty="0" sz="1100">
                <a:latin typeface="Courier New"/>
                <a:cs typeface="Courier New"/>
              </a:rPr>
              <a:t>	3.49</a:t>
            </a:r>
            <a:r>
              <a:rPr dirty="0" sz="1100" spc="-45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...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3.49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20">
                <a:latin typeface="Courier New"/>
                <a:cs typeface="Courier New"/>
              </a:rPr>
              <a:t>3.49</a:t>
            </a:r>
            <a:r>
              <a:rPr dirty="0" sz="1100">
                <a:latin typeface="Courier New"/>
                <a:cs typeface="Courier New"/>
              </a:rPr>
              <a:t>	</a:t>
            </a:r>
            <a:r>
              <a:rPr dirty="0" sz="1100" spc="-10">
                <a:latin typeface="Courier New"/>
                <a:cs typeface="Courier New"/>
              </a:rPr>
              <a:t>3.49]]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257550"/>
            <a:ext cx="228409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Z=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[[1.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5">
                <a:latin typeface="Courier New"/>
                <a:cs typeface="Courier New"/>
              </a:rPr>
              <a:t> 0.]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3420109"/>
            <a:ext cx="2031364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[1.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0.]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3581932"/>
            <a:ext cx="2031364" cy="16383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[1.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0.]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3745229"/>
            <a:ext cx="348615" cy="162560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 spc="-25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3907790"/>
            <a:ext cx="2031364" cy="1619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35"/>
              </a:lnSpc>
            </a:pPr>
            <a:r>
              <a:rPr dirty="0" sz="1100">
                <a:latin typeface="Courier New"/>
                <a:cs typeface="Courier New"/>
              </a:rPr>
              <a:t>[1.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0.]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4069612"/>
            <a:ext cx="2031364" cy="16319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0" rIns="0" bIns="0" rtlCol="0" vert="horz">
            <a:spAutoFit/>
          </a:bodyPr>
          <a:lstStyle/>
          <a:p>
            <a:pPr marL="85090">
              <a:lnSpc>
                <a:spcPts val="1240"/>
              </a:lnSpc>
            </a:pPr>
            <a:r>
              <a:rPr dirty="0" sz="1100">
                <a:latin typeface="Courier New"/>
                <a:cs typeface="Courier New"/>
              </a:rPr>
              <a:t>[1.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 spc="-25">
                <a:latin typeface="Courier New"/>
                <a:cs typeface="Courier New"/>
              </a:rPr>
              <a:t>0.]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14400" y="4232909"/>
            <a:ext cx="2103755" cy="161925"/>
          </a:xfrm>
          <a:custGeom>
            <a:avLst/>
            <a:gdLst/>
            <a:ahLst/>
            <a:cxnLst/>
            <a:rect l="l" t="t" r="r" b="b"/>
            <a:pathLst>
              <a:path w="2103755" h="161925">
                <a:moveTo>
                  <a:pt x="2103755" y="0"/>
                </a:moveTo>
                <a:lnTo>
                  <a:pt x="0" y="0"/>
                </a:lnTo>
                <a:lnTo>
                  <a:pt x="0" y="161925"/>
                </a:lnTo>
                <a:lnTo>
                  <a:pt x="2103755" y="161925"/>
                </a:lnTo>
                <a:lnTo>
                  <a:pt x="21037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02969" y="4209415"/>
            <a:ext cx="5666105" cy="1457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Courier New"/>
                <a:cs typeface="Courier New"/>
              </a:rPr>
              <a:t>[1.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1.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...</a:t>
            </a:r>
            <a:r>
              <a:rPr dirty="0" sz="1100" spc="-20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5">
                <a:latin typeface="Courier New"/>
                <a:cs typeface="Courier New"/>
              </a:rPr>
              <a:t> </a:t>
            </a:r>
            <a:r>
              <a:rPr dirty="0" sz="1100">
                <a:latin typeface="Courier New"/>
                <a:cs typeface="Courier New"/>
              </a:rPr>
              <a:t>0.</a:t>
            </a:r>
            <a:r>
              <a:rPr dirty="0" sz="1100" spc="-20">
                <a:latin typeface="Courier New"/>
                <a:cs typeface="Courier New"/>
              </a:rPr>
              <a:t> 0.]]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plt.figure(figsize=(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6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)) plt.contourf(xx,yy,Z,alpha=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0.2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,cmap=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'coolwarm'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plt.scatter(X[:,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],X[:,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],c=y,</a:t>
            </a:r>
            <a:r>
              <a:rPr dirty="0" sz="1100" spc="-15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cmap=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'coolwarm'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,edgecolor=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'k'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,s=</a:t>
            </a:r>
            <a:r>
              <a:rPr dirty="0" sz="1100" spc="-10">
                <a:solidFill>
                  <a:srgbClr val="A95C00"/>
                </a:solidFill>
                <a:latin typeface="Courier New"/>
                <a:cs typeface="Courier New"/>
              </a:rPr>
              <a:t>100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plt.xlabel(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"Feature</a:t>
            </a:r>
            <a:r>
              <a:rPr dirty="0" sz="1100" spc="-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1</a:t>
            </a:r>
            <a:r>
              <a:rPr dirty="0" sz="1100" spc="-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(e.g.,Positivity</a:t>
            </a:r>
            <a:r>
              <a:rPr dirty="0" sz="1100" spc="-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Score)"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428625">
              <a:lnSpc>
                <a:spcPts val="1280"/>
              </a:lnSpc>
            </a:pP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plt.ylabel(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"Feature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2</a:t>
            </a:r>
            <a:r>
              <a:rPr dirty="0" sz="1100" spc="-4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(e.g.,</a:t>
            </a:r>
            <a:r>
              <a:rPr dirty="0" sz="1100" spc="-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Intensity</a:t>
            </a:r>
            <a:r>
              <a:rPr dirty="0" sz="1100" spc="-4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Score)"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r>
              <a:rPr dirty="0" sz="1100" spc="500">
                <a:solidFill>
                  <a:srgbClr val="1E1B1A"/>
                </a:solidFill>
                <a:latin typeface="Courier New"/>
                <a:cs typeface="Courier New"/>
              </a:rPr>
              <a:t>  </a:t>
            </a:r>
            <a:r>
              <a:rPr dirty="0" sz="1100">
                <a:solidFill>
                  <a:srgbClr val="1E1B1A"/>
                </a:solidFill>
                <a:latin typeface="Courier New"/>
                <a:cs typeface="Courier New"/>
              </a:rPr>
              <a:t>plt.title(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"SVM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Decision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Boundary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on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007F00"/>
                </a:solidFill>
                <a:latin typeface="Courier New"/>
                <a:cs typeface="Courier New"/>
              </a:rPr>
              <a:t>2-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Feature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solidFill>
                  <a:srgbClr val="007F00"/>
                </a:solidFill>
                <a:latin typeface="Courier New"/>
                <a:cs typeface="Courier New"/>
              </a:rPr>
              <a:t>Sentiment</a:t>
            </a:r>
            <a:r>
              <a:rPr dirty="0" sz="1100" spc="-8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007F00"/>
                </a:solidFill>
                <a:latin typeface="Courier New"/>
                <a:cs typeface="Courier New"/>
              </a:rPr>
              <a:t>Data"</a:t>
            </a:r>
            <a:r>
              <a:rPr dirty="0" sz="1100" spc="-10">
                <a:solidFill>
                  <a:srgbClr val="1E1B1A"/>
                </a:solidFill>
                <a:latin typeface="Courier New"/>
                <a:cs typeface="Courier New"/>
              </a:rPr>
              <a:t>) plt.show()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48360" y="914400"/>
            <a:ext cx="6076315" cy="4811395"/>
          </a:xfrm>
          <a:custGeom>
            <a:avLst/>
            <a:gdLst/>
            <a:ahLst/>
            <a:cxnLst/>
            <a:rect l="l" t="t" r="r" b="b"/>
            <a:pathLst>
              <a:path w="6076315" h="4811395">
                <a:moveTo>
                  <a:pt x="0" y="1904"/>
                </a:moveTo>
                <a:lnTo>
                  <a:pt x="6076315" y="1904"/>
                </a:lnTo>
              </a:path>
              <a:path w="6076315" h="4811395">
                <a:moveTo>
                  <a:pt x="6075045" y="0"/>
                </a:moveTo>
                <a:lnTo>
                  <a:pt x="6075045" y="3607435"/>
                </a:lnTo>
              </a:path>
              <a:path w="6076315" h="4811395">
                <a:moveTo>
                  <a:pt x="1905" y="3607435"/>
                </a:moveTo>
                <a:lnTo>
                  <a:pt x="1905" y="0"/>
                </a:lnTo>
              </a:path>
              <a:path w="6076315" h="4811395">
                <a:moveTo>
                  <a:pt x="6075045" y="3480435"/>
                </a:moveTo>
                <a:lnTo>
                  <a:pt x="6075045" y="4811395"/>
                </a:lnTo>
              </a:path>
              <a:path w="6076315" h="4811395">
                <a:moveTo>
                  <a:pt x="6076315" y="4810125"/>
                </a:moveTo>
                <a:lnTo>
                  <a:pt x="0" y="4810125"/>
                </a:lnTo>
              </a:path>
              <a:path w="6076315" h="4811395">
                <a:moveTo>
                  <a:pt x="1905" y="4811395"/>
                </a:moveTo>
                <a:lnTo>
                  <a:pt x="1905" y="3480435"/>
                </a:lnTo>
              </a:path>
              <a:path w="6076315" h="4811395">
                <a:moveTo>
                  <a:pt x="0" y="1904"/>
                </a:moveTo>
                <a:lnTo>
                  <a:pt x="6076315" y="1904"/>
                </a:lnTo>
              </a:path>
              <a:path w="6076315" h="4811395">
                <a:moveTo>
                  <a:pt x="6075045" y="0"/>
                </a:moveTo>
                <a:lnTo>
                  <a:pt x="6075045" y="3607435"/>
                </a:lnTo>
              </a:path>
              <a:path w="6076315" h="4811395">
                <a:moveTo>
                  <a:pt x="1905" y="3607435"/>
                </a:moveTo>
                <a:lnTo>
                  <a:pt x="1905" y="0"/>
                </a:lnTo>
              </a:path>
              <a:path w="6076315" h="4811395">
                <a:moveTo>
                  <a:pt x="6075045" y="3480435"/>
                </a:moveTo>
                <a:lnTo>
                  <a:pt x="6075045" y="4811395"/>
                </a:lnTo>
              </a:path>
              <a:path w="6076315" h="4811395">
                <a:moveTo>
                  <a:pt x="6076315" y="4810125"/>
                </a:moveTo>
                <a:lnTo>
                  <a:pt x="0" y="4810125"/>
                </a:lnTo>
              </a:path>
              <a:path w="6076315" h="4811395">
                <a:moveTo>
                  <a:pt x="1905" y="4811395"/>
                </a:moveTo>
                <a:lnTo>
                  <a:pt x="1905" y="348043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4803775"/>
            <a:ext cx="6076950" cy="280670"/>
          </a:xfrm>
          <a:custGeom>
            <a:avLst/>
            <a:gdLst/>
            <a:ahLst/>
            <a:cxnLst/>
            <a:rect l="l" t="t" r="r" b="b"/>
            <a:pathLst>
              <a:path w="6076950" h="280670">
                <a:moveTo>
                  <a:pt x="6076950" y="0"/>
                </a:moveTo>
                <a:lnTo>
                  <a:pt x="0" y="0"/>
                </a:lnTo>
                <a:lnTo>
                  <a:pt x="0" y="280670"/>
                </a:lnTo>
                <a:lnTo>
                  <a:pt x="6076950" y="28067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363" y="969817"/>
            <a:ext cx="5873072" cy="36566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48360" y="4804409"/>
            <a:ext cx="6076315" cy="280035"/>
          </a:xfrm>
          <a:custGeom>
            <a:avLst/>
            <a:gdLst/>
            <a:ahLst/>
            <a:cxnLst/>
            <a:rect l="l" t="t" r="r" b="b"/>
            <a:pathLst>
              <a:path w="6076315" h="280035">
                <a:moveTo>
                  <a:pt x="0" y="1904"/>
                </a:moveTo>
                <a:lnTo>
                  <a:pt x="6076315" y="1904"/>
                </a:lnTo>
              </a:path>
              <a:path w="6076315" h="280035">
                <a:moveTo>
                  <a:pt x="6075045" y="0"/>
                </a:moveTo>
                <a:lnTo>
                  <a:pt x="6075045" y="280035"/>
                </a:lnTo>
              </a:path>
              <a:path w="6076315" h="280035">
                <a:moveTo>
                  <a:pt x="6076315" y="278764"/>
                </a:moveTo>
                <a:lnTo>
                  <a:pt x="0" y="278764"/>
                </a:lnTo>
              </a:path>
              <a:path w="6076315" h="280035">
                <a:moveTo>
                  <a:pt x="1905" y="280035"/>
                </a:moveTo>
                <a:lnTo>
                  <a:pt x="1905" y="0"/>
                </a:lnTo>
              </a:path>
              <a:path w="6076315" h="280035">
                <a:moveTo>
                  <a:pt x="0" y="1904"/>
                </a:moveTo>
                <a:lnTo>
                  <a:pt x="6076315" y="1904"/>
                </a:lnTo>
              </a:path>
              <a:path w="6076315" h="280035">
                <a:moveTo>
                  <a:pt x="6075045" y="0"/>
                </a:moveTo>
                <a:lnTo>
                  <a:pt x="6075045" y="280035"/>
                </a:lnTo>
              </a:path>
              <a:path w="6076315" h="280035">
                <a:moveTo>
                  <a:pt x="6076315" y="278764"/>
                </a:moveTo>
                <a:lnTo>
                  <a:pt x="0" y="278764"/>
                </a:lnTo>
              </a:path>
              <a:path w="6076315" h="280035">
                <a:moveTo>
                  <a:pt x="1905" y="28003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2025-11-05T18:18:51Z</dcterms:created>
  <dcterms:modified xsi:type="dcterms:W3CDTF">2025-11-05T18:18:51Z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LastSaved">
    <vt:filetime>2025-11-05T00:00:00Z</vt:filetime>
  </property>
  <property fmtid="{D5CDD505-2E9C-101B-9397-08002B2CF9AE}" pid="4" name="Producer">
    <vt:lpwstr>iLovePDF</vt:lpwstr>
  </property>
</Properties>
</file>